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3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5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6.xml" ContentType="application/vnd.openxmlformats-officedocument.presentationml.notesSl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7.xml" ContentType="application/vnd.openxmlformats-officedocument.presentationml.notesSl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notesSlides/notesSlide8.xml" ContentType="application/vnd.openxmlformats-officedocument.presentationml.notesSlid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notesSlides/notesSlide9.xml" ContentType="application/vnd.openxmlformats-officedocument.presentationml.notesSlid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notesSlides/notesSlide10.xml" ContentType="application/vnd.openxmlformats-officedocument.presentationml.notesSlid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notesSlides/notesSlide11.xml" ContentType="application/vnd.openxmlformats-officedocument.presentationml.notesSlid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70" r:id="rId4"/>
  </p:sldMasterIdLst>
  <p:notesMasterIdLst>
    <p:notesMasterId r:id="rId18"/>
  </p:notesMasterIdLst>
  <p:handoutMasterIdLst>
    <p:handoutMasterId r:id="rId19"/>
  </p:handoutMasterIdLst>
  <p:sldIdLst>
    <p:sldId id="400" r:id="rId5"/>
    <p:sldId id="391" r:id="rId6"/>
    <p:sldId id="403" r:id="rId7"/>
    <p:sldId id="270" r:id="rId8"/>
    <p:sldId id="261" r:id="rId9"/>
    <p:sldId id="260" r:id="rId10"/>
    <p:sldId id="404" r:id="rId11"/>
    <p:sldId id="401" r:id="rId12"/>
    <p:sldId id="399" r:id="rId13"/>
    <p:sldId id="265" r:id="rId14"/>
    <p:sldId id="266" r:id="rId15"/>
    <p:sldId id="398" r:id="rId16"/>
    <p:sldId id="286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86354" autoAdjust="0"/>
  </p:normalViewPr>
  <p:slideViewPr>
    <p:cSldViewPr snapToGrid="0">
      <p:cViewPr varScale="1">
        <p:scale>
          <a:sx n="37" d="100"/>
          <a:sy n="37" d="100"/>
        </p:scale>
        <p:origin x="1464" y="259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90" d="100"/>
        <a:sy n="90" d="100"/>
      </p:scale>
      <p:origin x="0" y="-1426"/>
    </p:cViewPr>
  </p:sorterViewPr>
  <p:notesViewPr>
    <p:cSldViewPr snapToGrid="0">
      <p:cViewPr varScale="1">
        <p:scale>
          <a:sx n="62" d="100"/>
          <a:sy n="62" d="100"/>
        </p:scale>
        <p:origin x="2266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Bra%20E\Documents\bright_coffee_data_analysi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Bra%20E\Documents\bright_coffee_data_analysis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Bra%20E\Documents\bright_learn_analysis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Bra%20E\Documents\bright_learn_analysis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Bra%20E\Documents\bright_learn_analysis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Bra%20E\Documents\bright_learn_analysis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Bra%20E\Documents\bright_learn_analysis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Bra%20E\Documents\bright_coffee_data_analysis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Bra%20E\Documents\bright_learn_analysis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Bra%20E\Documents\bright_learn_analysis.xlsx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Bra%20E\Documents\bright_coffee_data_analysis.xlsx" TargetMode="Externa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Bra%20E\Documents\bright_learn_analysis.xlsx" TargetMode="External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[bright_coffee_data_analysis.xlsx]Sheet1!PivotTable1</c:name>
    <c:fmtId val="8"/>
  </c:pivotSource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Sheet1!$B$3</c:f>
              <c:strCache>
                <c:ptCount val="1"/>
                <c:pt idx="0">
                  <c:v>Total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tint val="98000"/>
                    <a:satMod val="110000"/>
                    <a:lumMod val="104000"/>
                  </a:schemeClr>
                </a:gs>
                <a:gs pos="69000">
                  <a:schemeClr val="accent1">
                    <a:shade val="88000"/>
                    <a:satMod val="130000"/>
                    <a:lumMod val="92000"/>
                  </a:schemeClr>
                </a:gs>
                <a:gs pos="100000">
                  <a:schemeClr val="accent1">
                    <a:shade val="78000"/>
                    <a:satMod val="130000"/>
                    <a:lumMod val="92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cat>
            <c:strRef>
              <c:f>Sheet1!$A$4:$A$6</c:f>
              <c:strCache>
                <c:ptCount val="2"/>
                <c:pt idx="0">
                  <c:v>Weekday</c:v>
                </c:pt>
                <c:pt idx="1">
                  <c:v>Weeked</c:v>
                </c:pt>
              </c:strCache>
            </c:strRef>
          </c:cat>
          <c:val>
            <c:numRef>
              <c:f>Sheet1!$B$4:$B$6</c:f>
              <c:numCache>
                <c:formatCode>_-[$R-1C09]* #\ ##0.00_-;\-[$R-1C09]* #\ ##0.00_-;_-[$R-1C09]* "-"??_-;_-@_-</c:formatCode>
                <c:ptCount val="2"/>
                <c:pt idx="0">
                  <c:v>503587.53999999334</c:v>
                </c:pt>
                <c:pt idx="1">
                  <c:v>195224.79000000586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8FF-4865-8AE8-9A21D333354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126231656"/>
        <c:axId val="126234536"/>
      </c:barChart>
      <c:catAx>
        <c:axId val="1262316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6234536"/>
        <c:crosses val="autoZero"/>
        <c:auto val="1"/>
        <c:lblAlgn val="ctr"/>
        <c:lblOffset val="100"/>
        <c:noMultiLvlLbl val="0"/>
      </c:catAx>
      <c:valAx>
        <c:axId val="1262345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-[$R-1C09]* #\ ##0.00_-;\-[$R-1C09]* #\ ##0.00_-;_-[$R-1C09]* &quot;-&quot;??_-;_-@_-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623165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[bright_coffee_data_analysis.xlsx]Sheet3!PivotTable3</c:name>
    <c:fmtId val="4"/>
  </c:pivotSource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10822581268256337"/>
          <c:y val="0.10723223876588889"/>
          <c:w val="0.74710348975586371"/>
          <c:h val="0.7070793175986154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Sheet3!$B$3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Sheet3!$A$4:$A$7</c:f>
              <c:strCache>
                <c:ptCount val="3"/>
                <c:pt idx="0">
                  <c:v>Astoria</c:v>
                </c:pt>
                <c:pt idx="1">
                  <c:v>Hell's Kitchen</c:v>
                </c:pt>
                <c:pt idx="2">
                  <c:v>Lower Manhattan</c:v>
                </c:pt>
              </c:strCache>
            </c:strRef>
          </c:cat>
          <c:val>
            <c:numRef>
              <c:f>Sheet3!$B$4:$B$7</c:f>
              <c:numCache>
                <c:formatCode>_-[$R-1C09]* #\ ##0.00_-;\-[$R-1C09]* #\ ##0.00_-;_-[$R-1C09]* "-"??_-;_-@_-</c:formatCode>
                <c:ptCount val="3"/>
                <c:pt idx="0">
                  <c:v>70991</c:v>
                </c:pt>
                <c:pt idx="1">
                  <c:v>71737</c:v>
                </c:pt>
                <c:pt idx="2">
                  <c:v>71742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2C1-4A62-8991-8208FBBDBBA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94323672"/>
        <c:axId val="994323312"/>
      </c:barChart>
      <c:catAx>
        <c:axId val="9943236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94323312"/>
        <c:crosses val="autoZero"/>
        <c:auto val="1"/>
        <c:lblAlgn val="ctr"/>
        <c:lblOffset val="100"/>
        <c:noMultiLvlLbl val="0"/>
      </c:catAx>
      <c:valAx>
        <c:axId val="9943233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-[$R-1C09]* #\ ##0.00_-;\-[$R-1C09]* #\ ##0.00_-;_-[$R-1C09]* &quot;-&quot;??_-;_-@_-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943236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[bright_coffee_data_analysis.xlsx]Daily Sales!PivotTable3</c:name>
    <c:fmtId val="3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0" normalizeH="0" baseline="0">
                <a:solidFill>
                  <a:schemeClr val="dk1">
                    <a:lumMod val="50000"/>
                    <a:lumOff val="50000"/>
                  </a:schemeClr>
                </a:solidFill>
                <a:latin typeface="+mj-lt"/>
                <a:ea typeface="+mj-ea"/>
                <a:cs typeface="+mj-cs"/>
              </a:defRPr>
            </a:pPr>
            <a:r>
              <a:rPr lang="en-US"/>
              <a:t>Total daily Sales per store</a:t>
            </a:r>
          </a:p>
        </c:rich>
      </c:tx>
      <c:layout>
        <c:manualLayout>
          <c:xMode val="edge"/>
          <c:yMode val="edge"/>
          <c:x val="0.58720108396463977"/>
          <c:y val="2.811773958794760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0" normalizeH="0" baseline="0">
              <a:solidFill>
                <a:schemeClr val="dk1">
                  <a:lumMod val="50000"/>
                  <a:lumOff val="50000"/>
                </a:schemeClr>
              </a:solidFill>
              <a:latin typeface="+mj-lt"/>
              <a:ea typeface="+mj-ea"/>
              <a:cs typeface="+mj-cs"/>
            </a:defRPr>
          </a:pPr>
          <a:endParaRPr lang="en-US"/>
        </a:p>
      </c:txPr>
    </c:title>
    <c:autoTitleDeleted val="0"/>
    <c:pivotFmts>
      <c:pivotFmt>
        <c:idx val="0"/>
        <c:spPr>
          <a:gradFill>
            <a:gsLst>
              <a:gs pos="100000">
                <a:schemeClr val="accent1">
                  <a:lumMod val="60000"/>
                  <a:lumOff val="40000"/>
                </a:schemeClr>
              </a:gs>
              <a:gs pos="0">
                <a:schemeClr val="accent1"/>
              </a:gs>
            </a:gsLst>
            <a:lin ang="5400000" scaled="0"/>
          </a:gradFill>
          <a:ln w="50800">
            <a:solidFill>
              <a:schemeClr val="lt1"/>
            </a:solidFill>
          </a:ln>
          <a:effectLst/>
          <a:sp3d contourW="50800">
            <a:contourClr>
              <a:schemeClr val="lt1"/>
            </a:contourClr>
          </a:sp3d>
        </c:spPr>
        <c:marker>
          <c:symbol val="circle"/>
          <c:size val="6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>
            <a:gsLst>
              <a:gs pos="100000">
                <a:schemeClr val="accent1">
                  <a:lumMod val="60000"/>
                  <a:lumMod val="60000"/>
                  <a:lumOff val="40000"/>
                </a:schemeClr>
              </a:gs>
              <a:gs pos="0">
                <a:schemeClr val="accent1">
                  <a:lumMod val="60000"/>
                </a:schemeClr>
              </a:gs>
            </a:gsLst>
            <a:lin ang="5400000" scaled="0"/>
          </a:gradFill>
          <a:ln w="50800">
            <a:solidFill>
              <a:schemeClr val="lt1"/>
            </a:solidFill>
          </a:ln>
          <a:effectLst/>
          <a:sp3d contourW="50800">
            <a:contourClr>
              <a:schemeClr val="lt1"/>
            </a:contourClr>
          </a:sp3d>
        </c:spPr>
        <c:dLbl>
          <c:idx val="0"/>
          <c:layout>
            <c:manualLayout>
              <c:x val="-6.3148398737032027E-2"/>
              <c:y val="-8.0367393800229628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gradFill>
            <a:gsLst>
              <a:gs pos="100000">
                <a:schemeClr val="accent4">
                  <a:lumMod val="60000"/>
                  <a:lumMod val="60000"/>
                  <a:lumOff val="40000"/>
                </a:schemeClr>
              </a:gs>
              <a:gs pos="0">
                <a:schemeClr val="accent4">
                  <a:lumMod val="60000"/>
                </a:schemeClr>
              </a:gs>
            </a:gsLst>
            <a:lin ang="5400000" scaled="0"/>
          </a:gradFill>
          <a:ln w="50800">
            <a:solidFill>
              <a:schemeClr val="lt1"/>
            </a:solidFill>
          </a:ln>
          <a:effectLst/>
          <a:sp3d contourW="50800">
            <a:contourClr>
              <a:schemeClr val="lt1"/>
            </a:contourClr>
          </a:sp3d>
        </c:spPr>
        <c:dLbl>
          <c:idx val="0"/>
          <c:layout>
            <c:manualLayout>
              <c:x val="0.17140279657194407"/>
              <c:y val="-5.357826253348643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gradFill>
            <a:gsLst>
              <a:gs pos="100000">
                <a:schemeClr val="accent3">
                  <a:lumMod val="60000"/>
                  <a:lumMod val="60000"/>
                  <a:lumOff val="40000"/>
                </a:schemeClr>
              </a:gs>
              <a:gs pos="0">
                <a:schemeClr val="accent3">
                  <a:lumMod val="60000"/>
                </a:schemeClr>
              </a:gs>
            </a:gsLst>
            <a:lin ang="5400000" scaled="0"/>
          </a:gradFill>
          <a:ln w="50800">
            <a:solidFill>
              <a:schemeClr val="lt1"/>
            </a:solidFill>
          </a:ln>
          <a:effectLst/>
          <a:sp3d contourW="50800">
            <a:contourClr>
              <a:schemeClr val="lt1"/>
            </a:contourClr>
          </a:sp3d>
        </c:spPr>
        <c:dLbl>
          <c:idx val="0"/>
          <c:layout>
            <c:manualLayout>
              <c:x val="3.3829499323410013E-2"/>
              <c:y val="-0.1071565250669728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gradFill>
            <a:gsLst>
              <a:gs pos="100000">
                <a:schemeClr val="accent3">
                  <a:lumMod val="60000"/>
                  <a:lumOff val="40000"/>
                </a:schemeClr>
              </a:gs>
              <a:gs pos="0">
                <a:schemeClr val="accent3"/>
              </a:gs>
            </a:gsLst>
            <a:lin ang="5400000" scaled="0"/>
          </a:gradFill>
          <a:ln w="50800">
            <a:solidFill>
              <a:schemeClr val="lt1"/>
            </a:solidFill>
          </a:ln>
          <a:effectLst/>
          <a:sp3d contourW="50800">
            <a:contourClr>
              <a:schemeClr val="lt1"/>
            </a:contourClr>
          </a:sp3d>
        </c:spPr>
        <c:dLbl>
          <c:idx val="0"/>
          <c:layout>
            <c:manualLayout>
              <c:x val="-2.2552999548940009E-2"/>
              <c:y val="0.11481056257175661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gradFill>
            <a:gsLst>
              <a:gs pos="100000">
                <a:schemeClr val="accent1">
                  <a:lumMod val="60000"/>
                  <a:lumOff val="40000"/>
                </a:schemeClr>
              </a:gs>
              <a:gs pos="0">
                <a:schemeClr val="accent1"/>
              </a:gs>
            </a:gsLst>
            <a:lin ang="5400000" scaled="0"/>
          </a:gradFill>
          <a:ln w="50800">
            <a:solidFill>
              <a:schemeClr val="lt1"/>
            </a:solidFill>
          </a:ln>
          <a:effectLst/>
          <a:sp3d contourW="50800">
            <a:contourClr>
              <a:schemeClr val="lt1"/>
            </a:contourClr>
          </a:sp3d>
        </c:spPr>
        <c:dLbl>
          <c:idx val="0"/>
          <c:layout>
            <c:manualLayout>
              <c:x val="6.9914298601714026E-2"/>
              <c:y val="1.5308075009567547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gradFill>
            <a:gsLst>
              <a:gs pos="100000">
                <a:schemeClr val="accent1">
                  <a:lumMod val="60000"/>
                  <a:lumOff val="40000"/>
                </a:schemeClr>
              </a:gs>
              <a:gs pos="0">
                <a:schemeClr val="accent1"/>
              </a:gs>
            </a:gsLst>
            <a:lin ang="5400000" scaled="0"/>
          </a:gradFill>
          <a:ln w="50800">
            <a:solidFill>
              <a:schemeClr val="lt1"/>
            </a:solidFill>
          </a:ln>
          <a:effectLst/>
          <a:sp3d contourW="508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gradFill>
            <a:gsLst>
              <a:gs pos="100000">
                <a:schemeClr val="accent1">
                  <a:lumMod val="60000"/>
                  <a:lumOff val="40000"/>
                </a:schemeClr>
              </a:gs>
              <a:gs pos="0">
                <a:schemeClr val="accent1"/>
              </a:gs>
            </a:gsLst>
            <a:lin ang="5400000" scaled="0"/>
          </a:gradFill>
          <a:ln w="50800">
            <a:solidFill>
              <a:schemeClr val="lt1"/>
            </a:solidFill>
          </a:ln>
          <a:effectLst/>
          <a:sp3d contourW="50800">
            <a:contourClr>
              <a:schemeClr val="lt1"/>
            </a:contourClr>
          </a:sp3d>
        </c:spPr>
        <c:dLbl>
          <c:idx val="0"/>
          <c:layout>
            <c:manualLayout>
              <c:x val="6.9914298601714026E-2"/>
              <c:y val="1.5308075009567547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gradFill>
            <a:gsLst>
              <a:gs pos="100000">
                <a:schemeClr val="accent1">
                  <a:lumMod val="60000"/>
                  <a:lumOff val="40000"/>
                </a:schemeClr>
              </a:gs>
              <a:gs pos="0">
                <a:schemeClr val="accent1"/>
              </a:gs>
            </a:gsLst>
            <a:lin ang="5400000" scaled="0"/>
          </a:gradFill>
          <a:ln w="50800">
            <a:solidFill>
              <a:schemeClr val="lt1"/>
            </a:solidFill>
          </a:ln>
          <a:effectLst/>
          <a:sp3d contourW="50800">
            <a:contourClr>
              <a:schemeClr val="lt1"/>
            </a:contourClr>
          </a:sp3d>
        </c:spPr>
      </c:pivotFmt>
      <c:pivotFmt>
        <c:idx val="10"/>
        <c:spPr>
          <a:gradFill>
            <a:gsLst>
              <a:gs pos="100000">
                <a:schemeClr val="accent1">
                  <a:lumMod val="60000"/>
                  <a:lumOff val="40000"/>
                </a:schemeClr>
              </a:gs>
              <a:gs pos="0">
                <a:schemeClr val="accent1"/>
              </a:gs>
            </a:gsLst>
            <a:lin ang="5400000" scaled="0"/>
          </a:gradFill>
          <a:ln w="50800">
            <a:solidFill>
              <a:schemeClr val="lt1"/>
            </a:solidFill>
          </a:ln>
          <a:effectLst/>
          <a:sp3d contourW="50800">
            <a:contourClr>
              <a:schemeClr val="lt1"/>
            </a:contourClr>
          </a:sp3d>
        </c:spPr>
        <c:dLbl>
          <c:idx val="0"/>
          <c:layout>
            <c:manualLayout>
              <c:x val="-2.2552999548940009E-2"/>
              <c:y val="0.11481056257175661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gradFill>
            <a:gsLst>
              <a:gs pos="100000">
                <a:schemeClr val="accent1">
                  <a:lumMod val="60000"/>
                  <a:lumOff val="40000"/>
                </a:schemeClr>
              </a:gs>
              <a:gs pos="0">
                <a:schemeClr val="accent1"/>
              </a:gs>
            </a:gsLst>
            <a:lin ang="5400000" scaled="0"/>
          </a:gradFill>
          <a:ln w="50800">
            <a:solidFill>
              <a:schemeClr val="lt1"/>
            </a:solidFill>
          </a:ln>
          <a:effectLst/>
          <a:sp3d contourW="50800">
            <a:contourClr>
              <a:schemeClr val="lt1"/>
            </a:contourClr>
          </a:sp3d>
        </c:spPr>
      </c:pivotFmt>
      <c:pivotFmt>
        <c:idx val="12"/>
        <c:spPr>
          <a:gradFill>
            <a:gsLst>
              <a:gs pos="100000">
                <a:schemeClr val="accent1">
                  <a:lumMod val="60000"/>
                  <a:lumOff val="40000"/>
                </a:schemeClr>
              </a:gs>
              <a:gs pos="0">
                <a:schemeClr val="accent1"/>
              </a:gs>
            </a:gsLst>
            <a:lin ang="5400000" scaled="0"/>
          </a:gradFill>
          <a:ln w="50800">
            <a:solidFill>
              <a:schemeClr val="lt1"/>
            </a:solidFill>
          </a:ln>
          <a:effectLst/>
          <a:sp3d contourW="50800">
            <a:contourClr>
              <a:schemeClr val="lt1"/>
            </a:contourClr>
          </a:sp3d>
        </c:spPr>
      </c:pivotFmt>
      <c:pivotFmt>
        <c:idx val="13"/>
        <c:spPr>
          <a:gradFill>
            <a:gsLst>
              <a:gs pos="100000">
                <a:schemeClr val="accent1">
                  <a:lumMod val="60000"/>
                  <a:lumOff val="40000"/>
                </a:schemeClr>
              </a:gs>
              <a:gs pos="0">
                <a:schemeClr val="accent1"/>
              </a:gs>
            </a:gsLst>
            <a:lin ang="5400000" scaled="0"/>
          </a:gradFill>
          <a:ln w="50800">
            <a:solidFill>
              <a:schemeClr val="lt1"/>
            </a:solidFill>
          </a:ln>
          <a:effectLst/>
          <a:sp3d contourW="50800">
            <a:contourClr>
              <a:schemeClr val="lt1"/>
            </a:contourClr>
          </a:sp3d>
        </c:spPr>
      </c:pivotFmt>
      <c:pivotFmt>
        <c:idx val="14"/>
        <c:spPr>
          <a:gradFill>
            <a:gsLst>
              <a:gs pos="100000">
                <a:schemeClr val="accent1">
                  <a:lumMod val="60000"/>
                  <a:lumOff val="40000"/>
                </a:schemeClr>
              </a:gs>
              <a:gs pos="0">
                <a:schemeClr val="accent1"/>
              </a:gs>
            </a:gsLst>
            <a:lin ang="5400000" scaled="0"/>
          </a:gradFill>
          <a:ln w="50800">
            <a:solidFill>
              <a:schemeClr val="lt1"/>
            </a:solidFill>
          </a:ln>
          <a:effectLst/>
          <a:sp3d contourW="50800">
            <a:contourClr>
              <a:schemeClr val="lt1"/>
            </a:contourClr>
          </a:sp3d>
        </c:spPr>
        <c:dLbl>
          <c:idx val="0"/>
          <c:layout>
            <c:manualLayout>
              <c:x val="-6.3148398737032027E-2"/>
              <c:y val="-8.0367393800229628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gradFill>
            <a:gsLst>
              <a:gs pos="100000">
                <a:schemeClr val="accent1">
                  <a:lumMod val="60000"/>
                  <a:lumOff val="40000"/>
                </a:schemeClr>
              </a:gs>
              <a:gs pos="0">
                <a:schemeClr val="accent1"/>
              </a:gs>
            </a:gsLst>
            <a:lin ang="5400000" scaled="0"/>
          </a:gradFill>
          <a:ln w="50800">
            <a:solidFill>
              <a:schemeClr val="lt1"/>
            </a:solidFill>
          </a:ln>
          <a:effectLst/>
          <a:sp3d contourW="50800">
            <a:contourClr>
              <a:schemeClr val="lt1"/>
            </a:contourClr>
          </a:sp3d>
        </c:spPr>
      </c:pivotFmt>
      <c:pivotFmt>
        <c:idx val="16"/>
        <c:spPr>
          <a:gradFill>
            <a:gsLst>
              <a:gs pos="100000">
                <a:schemeClr val="accent1">
                  <a:lumMod val="60000"/>
                  <a:lumOff val="40000"/>
                </a:schemeClr>
              </a:gs>
              <a:gs pos="0">
                <a:schemeClr val="accent1"/>
              </a:gs>
            </a:gsLst>
            <a:lin ang="5400000" scaled="0"/>
          </a:gradFill>
          <a:ln w="50800">
            <a:solidFill>
              <a:schemeClr val="lt1"/>
            </a:solidFill>
          </a:ln>
          <a:effectLst/>
          <a:sp3d contourW="50800">
            <a:contourClr>
              <a:schemeClr val="lt1"/>
            </a:contourClr>
          </a:sp3d>
        </c:spPr>
        <c:dLbl>
          <c:idx val="0"/>
          <c:layout>
            <c:manualLayout>
              <c:x val="3.3829499323410013E-2"/>
              <c:y val="-0.1071565250669728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gradFill>
            <a:gsLst>
              <a:gs pos="100000">
                <a:schemeClr val="accent1">
                  <a:lumMod val="60000"/>
                  <a:lumOff val="40000"/>
                </a:schemeClr>
              </a:gs>
              <a:gs pos="0">
                <a:schemeClr val="accent1"/>
              </a:gs>
            </a:gsLst>
            <a:lin ang="5400000" scaled="0"/>
          </a:gradFill>
          <a:ln w="50800">
            <a:solidFill>
              <a:schemeClr val="lt1"/>
            </a:solidFill>
          </a:ln>
          <a:effectLst/>
          <a:sp3d contourW="50800">
            <a:contourClr>
              <a:schemeClr val="lt1"/>
            </a:contourClr>
          </a:sp3d>
        </c:spPr>
        <c:dLbl>
          <c:idx val="0"/>
          <c:layout>
            <c:manualLayout>
              <c:x val="0.17140279657194407"/>
              <c:y val="-5.357826253348643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gradFill>
            <a:gsLst>
              <a:gs pos="100000">
                <a:schemeClr val="accent1">
                  <a:lumMod val="60000"/>
                  <a:lumOff val="40000"/>
                </a:schemeClr>
              </a:gs>
              <a:gs pos="0">
                <a:schemeClr val="accent1"/>
              </a:gs>
            </a:gsLst>
            <a:lin ang="5400000" scaled="0"/>
          </a:gradFill>
          <a:ln w="50800">
            <a:solidFill>
              <a:schemeClr val="lt1"/>
            </a:solidFill>
          </a:ln>
          <a:effectLst/>
          <a:sp3d contourW="508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gradFill>
            <a:gsLst>
              <a:gs pos="100000">
                <a:schemeClr val="accent1">
                  <a:lumMod val="60000"/>
                  <a:lumOff val="40000"/>
                </a:schemeClr>
              </a:gs>
              <a:gs pos="0">
                <a:schemeClr val="accent1"/>
              </a:gs>
            </a:gsLst>
            <a:lin ang="5400000" scaled="0"/>
          </a:gradFill>
          <a:ln w="50800">
            <a:solidFill>
              <a:schemeClr val="lt1"/>
            </a:solidFill>
          </a:ln>
          <a:effectLst/>
          <a:sp3d contourW="50800">
            <a:contourClr>
              <a:schemeClr val="lt1"/>
            </a:contourClr>
          </a:sp3d>
        </c:spPr>
        <c:dLbl>
          <c:idx val="0"/>
          <c:layout>
            <c:manualLayout>
              <c:x val="6.9914298601714026E-2"/>
              <c:y val="1.5308075009567547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gradFill>
            <a:gsLst>
              <a:gs pos="100000">
                <a:schemeClr val="accent1">
                  <a:lumMod val="60000"/>
                  <a:lumOff val="40000"/>
                </a:schemeClr>
              </a:gs>
              <a:gs pos="0">
                <a:schemeClr val="accent1"/>
              </a:gs>
            </a:gsLst>
            <a:lin ang="5400000" scaled="0"/>
          </a:gradFill>
          <a:ln w="50800">
            <a:solidFill>
              <a:schemeClr val="lt1"/>
            </a:solidFill>
          </a:ln>
          <a:effectLst/>
          <a:sp3d contourW="50800">
            <a:contourClr>
              <a:schemeClr val="lt1"/>
            </a:contourClr>
          </a:sp3d>
        </c:spPr>
      </c:pivotFmt>
      <c:pivotFmt>
        <c:idx val="21"/>
        <c:spPr>
          <a:gradFill>
            <a:gsLst>
              <a:gs pos="100000">
                <a:schemeClr val="accent1">
                  <a:lumMod val="60000"/>
                  <a:lumOff val="40000"/>
                </a:schemeClr>
              </a:gs>
              <a:gs pos="0">
                <a:schemeClr val="accent1"/>
              </a:gs>
            </a:gsLst>
            <a:lin ang="5400000" scaled="0"/>
          </a:gradFill>
          <a:ln w="50800">
            <a:solidFill>
              <a:schemeClr val="lt1"/>
            </a:solidFill>
          </a:ln>
          <a:effectLst/>
          <a:sp3d contourW="50800">
            <a:contourClr>
              <a:schemeClr val="lt1"/>
            </a:contourClr>
          </a:sp3d>
        </c:spPr>
        <c:dLbl>
          <c:idx val="0"/>
          <c:layout>
            <c:manualLayout>
              <c:x val="-2.2552999548940009E-2"/>
              <c:y val="0.11481056257175661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spPr>
          <a:gradFill>
            <a:gsLst>
              <a:gs pos="100000">
                <a:schemeClr val="accent1">
                  <a:lumMod val="60000"/>
                  <a:lumOff val="40000"/>
                </a:schemeClr>
              </a:gs>
              <a:gs pos="0">
                <a:schemeClr val="accent1"/>
              </a:gs>
            </a:gsLst>
            <a:lin ang="5400000" scaled="0"/>
          </a:gradFill>
          <a:ln w="50800">
            <a:solidFill>
              <a:schemeClr val="lt1"/>
            </a:solidFill>
          </a:ln>
          <a:effectLst/>
          <a:sp3d contourW="50800">
            <a:contourClr>
              <a:schemeClr val="lt1"/>
            </a:contourClr>
          </a:sp3d>
        </c:spPr>
      </c:pivotFmt>
      <c:pivotFmt>
        <c:idx val="23"/>
        <c:spPr>
          <a:gradFill>
            <a:gsLst>
              <a:gs pos="100000">
                <a:schemeClr val="accent1">
                  <a:lumMod val="60000"/>
                  <a:lumOff val="40000"/>
                </a:schemeClr>
              </a:gs>
              <a:gs pos="0">
                <a:schemeClr val="accent1"/>
              </a:gs>
            </a:gsLst>
            <a:lin ang="5400000" scaled="0"/>
          </a:gradFill>
          <a:ln w="50800">
            <a:solidFill>
              <a:schemeClr val="lt1"/>
            </a:solidFill>
          </a:ln>
          <a:effectLst/>
          <a:sp3d contourW="50800">
            <a:contourClr>
              <a:schemeClr val="lt1"/>
            </a:contourClr>
          </a:sp3d>
        </c:spPr>
      </c:pivotFmt>
      <c:pivotFmt>
        <c:idx val="24"/>
        <c:spPr>
          <a:gradFill>
            <a:gsLst>
              <a:gs pos="100000">
                <a:schemeClr val="accent1">
                  <a:lumMod val="60000"/>
                  <a:lumOff val="40000"/>
                </a:schemeClr>
              </a:gs>
              <a:gs pos="0">
                <a:schemeClr val="accent1"/>
              </a:gs>
            </a:gsLst>
            <a:lin ang="5400000" scaled="0"/>
          </a:gradFill>
          <a:ln w="50800">
            <a:solidFill>
              <a:schemeClr val="lt1"/>
            </a:solidFill>
          </a:ln>
          <a:effectLst/>
          <a:sp3d contourW="50800">
            <a:contourClr>
              <a:schemeClr val="lt1"/>
            </a:contourClr>
          </a:sp3d>
        </c:spPr>
      </c:pivotFmt>
      <c:pivotFmt>
        <c:idx val="25"/>
        <c:spPr>
          <a:gradFill>
            <a:gsLst>
              <a:gs pos="100000">
                <a:schemeClr val="accent1">
                  <a:lumMod val="60000"/>
                  <a:lumOff val="40000"/>
                </a:schemeClr>
              </a:gs>
              <a:gs pos="0">
                <a:schemeClr val="accent1"/>
              </a:gs>
            </a:gsLst>
            <a:lin ang="5400000" scaled="0"/>
          </a:gradFill>
          <a:ln w="50800">
            <a:solidFill>
              <a:schemeClr val="lt1"/>
            </a:solidFill>
          </a:ln>
          <a:effectLst/>
          <a:sp3d contourW="50800">
            <a:contourClr>
              <a:schemeClr val="lt1"/>
            </a:contourClr>
          </a:sp3d>
        </c:spPr>
        <c:dLbl>
          <c:idx val="0"/>
          <c:layout>
            <c:manualLayout>
              <c:x val="-6.3148398737032027E-2"/>
              <c:y val="-8.0367393800229628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"/>
        <c:spPr>
          <a:gradFill>
            <a:gsLst>
              <a:gs pos="100000">
                <a:schemeClr val="accent1">
                  <a:lumMod val="60000"/>
                  <a:lumOff val="40000"/>
                </a:schemeClr>
              </a:gs>
              <a:gs pos="0">
                <a:schemeClr val="accent1"/>
              </a:gs>
            </a:gsLst>
            <a:lin ang="5400000" scaled="0"/>
          </a:gradFill>
          <a:ln w="50800">
            <a:solidFill>
              <a:schemeClr val="lt1"/>
            </a:solidFill>
          </a:ln>
          <a:effectLst/>
          <a:sp3d contourW="50800">
            <a:contourClr>
              <a:schemeClr val="lt1"/>
            </a:contourClr>
          </a:sp3d>
        </c:spPr>
      </c:pivotFmt>
      <c:pivotFmt>
        <c:idx val="27"/>
        <c:spPr>
          <a:gradFill>
            <a:gsLst>
              <a:gs pos="100000">
                <a:schemeClr val="accent1">
                  <a:lumMod val="60000"/>
                  <a:lumOff val="40000"/>
                </a:schemeClr>
              </a:gs>
              <a:gs pos="0">
                <a:schemeClr val="accent1"/>
              </a:gs>
            </a:gsLst>
            <a:lin ang="5400000" scaled="0"/>
          </a:gradFill>
          <a:ln w="50800">
            <a:solidFill>
              <a:schemeClr val="lt1"/>
            </a:solidFill>
          </a:ln>
          <a:effectLst/>
          <a:sp3d contourW="50800">
            <a:contourClr>
              <a:schemeClr val="lt1"/>
            </a:contourClr>
          </a:sp3d>
        </c:spPr>
        <c:dLbl>
          <c:idx val="0"/>
          <c:layout>
            <c:manualLayout>
              <c:x val="3.3829499323410013E-2"/>
              <c:y val="-0.1071565250669728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8"/>
        <c:spPr>
          <a:gradFill>
            <a:gsLst>
              <a:gs pos="100000">
                <a:schemeClr val="accent1">
                  <a:lumMod val="60000"/>
                  <a:lumOff val="40000"/>
                </a:schemeClr>
              </a:gs>
              <a:gs pos="0">
                <a:schemeClr val="accent1"/>
              </a:gs>
            </a:gsLst>
            <a:lin ang="5400000" scaled="0"/>
          </a:gradFill>
          <a:ln w="50800">
            <a:solidFill>
              <a:schemeClr val="lt1"/>
            </a:solidFill>
          </a:ln>
          <a:effectLst/>
          <a:sp3d contourW="50800">
            <a:contourClr>
              <a:schemeClr val="lt1"/>
            </a:contourClr>
          </a:sp3d>
        </c:spPr>
        <c:dLbl>
          <c:idx val="0"/>
          <c:layout>
            <c:manualLayout>
              <c:x val="0.17140279657194407"/>
              <c:y val="-5.357826253348643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view3D>
      <c:rotX val="30"/>
      <c:rotY val="0"/>
      <c:depthPercent val="100"/>
      <c:rAngAx val="0"/>
      <c:perspective val="5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9.6416502624671913E-2"/>
          <c:y val="0.15648046602182497"/>
          <c:w val="0.72258366141732289"/>
          <c:h val="0.7222203428272036"/>
        </c:manualLayout>
      </c:layout>
      <c:pie3DChart>
        <c:varyColors val="1"/>
        <c:ser>
          <c:idx val="0"/>
          <c:order val="0"/>
          <c:tx>
            <c:strRef>
              <c:f>'Daily Sales'!$B$3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gradFill>
                <a:gsLst>
                  <a:gs pos="100000">
                    <a:schemeClr val="accent1">
                      <a:lumMod val="60000"/>
                      <a:lumOff val="40000"/>
                    </a:schemeClr>
                  </a:gs>
                  <a:gs pos="0">
                    <a:schemeClr val="accent1"/>
                  </a:gs>
                </a:gsLst>
                <a:lin ang="5400000" scaled="0"/>
              </a:gradFill>
              <a:ln w="50800">
                <a:solidFill>
                  <a:schemeClr val="lt1"/>
                </a:solidFill>
              </a:ln>
              <a:effectLst/>
              <a:sp3d contourW="508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588E-42E3-9351-E44FBB8F070F}"/>
              </c:ext>
            </c:extLst>
          </c:dPt>
          <c:dPt>
            <c:idx val="1"/>
            <c:bubble3D val="0"/>
            <c:spPr>
              <a:gradFill>
                <a:gsLst>
                  <a:gs pos="100000">
                    <a:schemeClr val="accent2">
                      <a:lumMod val="60000"/>
                      <a:lumOff val="40000"/>
                    </a:schemeClr>
                  </a:gs>
                  <a:gs pos="0">
                    <a:schemeClr val="accent2"/>
                  </a:gs>
                </a:gsLst>
                <a:lin ang="5400000" scaled="0"/>
              </a:gradFill>
              <a:ln w="50800">
                <a:solidFill>
                  <a:schemeClr val="lt1"/>
                </a:solidFill>
              </a:ln>
              <a:effectLst/>
              <a:sp3d contourW="508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588E-42E3-9351-E44FBB8F070F}"/>
              </c:ext>
            </c:extLst>
          </c:dPt>
          <c:dPt>
            <c:idx val="2"/>
            <c:bubble3D val="0"/>
            <c:spPr>
              <a:gradFill>
                <a:gsLst>
                  <a:gs pos="100000">
                    <a:schemeClr val="accent3">
                      <a:lumMod val="60000"/>
                      <a:lumOff val="40000"/>
                    </a:schemeClr>
                  </a:gs>
                  <a:gs pos="0">
                    <a:schemeClr val="accent3"/>
                  </a:gs>
                </a:gsLst>
                <a:lin ang="5400000" scaled="0"/>
              </a:gradFill>
              <a:ln w="50800">
                <a:solidFill>
                  <a:schemeClr val="lt1"/>
                </a:solidFill>
              </a:ln>
              <a:effectLst/>
              <a:sp3d contourW="508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588E-42E3-9351-E44FBB8F070F}"/>
              </c:ext>
            </c:extLst>
          </c:dPt>
          <c:dPt>
            <c:idx val="3"/>
            <c:bubble3D val="0"/>
            <c:explosion val="1"/>
            <c:spPr>
              <a:gradFill>
                <a:gsLst>
                  <a:gs pos="100000">
                    <a:schemeClr val="accent4">
                      <a:lumMod val="60000"/>
                      <a:lumOff val="40000"/>
                    </a:schemeClr>
                  </a:gs>
                  <a:gs pos="0">
                    <a:schemeClr val="accent4"/>
                  </a:gs>
                </a:gsLst>
                <a:lin ang="5400000" scaled="0"/>
              </a:gradFill>
              <a:ln w="50800">
                <a:solidFill>
                  <a:schemeClr val="lt1"/>
                </a:solidFill>
              </a:ln>
              <a:effectLst/>
              <a:sp3d contourW="508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7-588E-42E3-9351-E44FBB8F070F}"/>
              </c:ext>
            </c:extLst>
          </c:dPt>
          <c:dPt>
            <c:idx val="4"/>
            <c:bubble3D val="0"/>
            <c:spPr>
              <a:gradFill>
                <a:gsLst>
                  <a:gs pos="100000">
                    <a:schemeClr val="accent5">
                      <a:lumMod val="60000"/>
                      <a:lumOff val="40000"/>
                    </a:schemeClr>
                  </a:gs>
                  <a:gs pos="0">
                    <a:schemeClr val="accent5"/>
                  </a:gs>
                </a:gsLst>
                <a:lin ang="5400000" scaled="0"/>
              </a:gradFill>
              <a:ln w="50800">
                <a:solidFill>
                  <a:schemeClr val="lt1"/>
                </a:solidFill>
              </a:ln>
              <a:effectLst/>
              <a:sp3d contourW="508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9-588E-42E3-9351-E44FBB8F070F}"/>
              </c:ext>
            </c:extLst>
          </c:dPt>
          <c:dPt>
            <c:idx val="5"/>
            <c:bubble3D val="0"/>
            <c:spPr>
              <a:gradFill>
                <a:gsLst>
                  <a:gs pos="100000">
                    <a:schemeClr val="accent6">
                      <a:lumMod val="60000"/>
                      <a:lumOff val="40000"/>
                    </a:schemeClr>
                  </a:gs>
                  <a:gs pos="0">
                    <a:schemeClr val="accent6"/>
                  </a:gs>
                </a:gsLst>
                <a:lin ang="5400000" scaled="0"/>
              </a:gradFill>
              <a:ln w="50800">
                <a:solidFill>
                  <a:schemeClr val="lt1"/>
                </a:solidFill>
              </a:ln>
              <a:effectLst/>
              <a:sp3d contourW="508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B-588E-42E3-9351-E44FBB8F070F}"/>
              </c:ext>
            </c:extLst>
          </c:dPt>
          <c:dPt>
            <c:idx val="6"/>
            <c:bubble3D val="0"/>
            <c:spPr>
              <a:gradFill>
                <a:gsLst>
                  <a:gs pos="100000">
                    <a:schemeClr val="accent1">
                      <a:lumMod val="60000"/>
                      <a:lumMod val="60000"/>
                      <a:lumOff val="40000"/>
                    </a:schemeClr>
                  </a:gs>
                  <a:gs pos="0">
                    <a:schemeClr val="accent1">
                      <a:lumMod val="60000"/>
                    </a:schemeClr>
                  </a:gs>
                </a:gsLst>
                <a:lin ang="5400000" scaled="0"/>
              </a:gradFill>
              <a:ln w="50800">
                <a:solidFill>
                  <a:schemeClr val="lt1"/>
                </a:solidFill>
              </a:ln>
              <a:effectLst/>
              <a:sp3d contourW="508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D-588E-42E3-9351-E44FBB8F070F}"/>
              </c:ext>
            </c:extLst>
          </c:dPt>
          <c:dPt>
            <c:idx val="7"/>
            <c:bubble3D val="0"/>
            <c:spPr>
              <a:gradFill>
                <a:gsLst>
                  <a:gs pos="100000">
                    <a:schemeClr val="accent2">
                      <a:lumMod val="60000"/>
                      <a:lumMod val="60000"/>
                      <a:lumOff val="40000"/>
                    </a:schemeClr>
                  </a:gs>
                  <a:gs pos="0">
                    <a:schemeClr val="accent2">
                      <a:lumMod val="60000"/>
                    </a:schemeClr>
                  </a:gs>
                </a:gsLst>
                <a:lin ang="5400000" scaled="0"/>
              </a:gradFill>
              <a:ln w="50800">
                <a:solidFill>
                  <a:schemeClr val="lt1"/>
                </a:solidFill>
              </a:ln>
              <a:effectLst/>
              <a:sp3d contourW="508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F-588E-42E3-9351-E44FBB8F070F}"/>
              </c:ext>
            </c:extLst>
          </c:dPt>
          <c:dPt>
            <c:idx val="8"/>
            <c:bubble3D val="0"/>
            <c:spPr>
              <a:gradFill>
                <a:gsLst>
                  <a:gs pos="100000">
                    <a:schemeClr val="accent3">
                      <a:lumMod val="60000"/>
                      <a:lumMod val="60000"/>
                      <a:lumOff val="40000"/>
                    </a:schemeClr>
                  </a:gs>
                  <a:gs pos="0">
                    <a:schemeClr val="accent3">
                      <a:lumMod val="60000"/>
                    </a:schemeClr>
                  </a:gs>
                </a:gsLst>
                <a:lin ang="5400000" scaled="0"/>
              </a:gradFill>
              <a:ln w="50800">
                <a:solidFill>
                  <a:schemeClr val="lt1"/>
                </a:solidFill>
              </a:ln>
              <a:effectLst/>
              <a:sp3d contourW="508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11-588E-42E3-9351-E44FBB8F070F}"/>
              </c:ext>
            </c:extLst>
          </c:dPt>
          <c:dPt>
            <c:idx val="9"/>
            <c:bubble3D val="0"/>
            <c:spPr>
              <a:gradFill>
                <a:gsLst>
                  <a:gs pos="100000">
                    <a:schemeClr val="accent4">
                      <a:lumMod val="60000"/>
                      <a:lumMod val="60000"/>
                      <a:lumOff val="40000"/>
                    </a:schemeClr>
                  </a:gs>
                  <a:gs pos="0">
                    <a:schemeClr val="accent4">
                      <a:lumMod val="60000"/>
                    </a:schemeClr>
                  </a:gs>
                </a:gsLst>
                <a:lin ang="5400000" scaled="0"/>
              </a:gradFill>
              <a:ln w="50800">
                <a:solidFill>
                  <a:schemeClr val="lt1"/>
                </a:solidFill>
              </a:ln>
              <a:effectLst/>
              <a:sp3d contourW="508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13-588E-42E3-9351-E44FBB8F070F}"/>
              </c:ext>
            </c:extLst>
          </c:dPt>
          <c:dLbls>
            <c:dLbl>
              <c:idx val="0"/>
              <c:layout>
                <c:manualLayout>
                  <c:x val="6.9914298601714026E-2"/>
                  <c:y val="1.5308075009567547E-2"/>
                </c:manualLayout>
              </c:layout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88E-42E3-9351-E44FBB8F070F}"/>
                </c:ext>
              </c:extLst>
            </c:dLbl>
            <c:dLbl>
              <c:idx val="1"/>
              <c:layout>
                <c:manualLayout>
                  <c:x val="-4.3535622313985327E-2"/>
                  <c:y val="-8.002324384685669E-2"/>
                </c:manualLayout>
              </c:layout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88E-42E3-9351-E44FBB8F070F}"/>
                </c:ext>
              </c:extLst>
            </c:dLbl>
            <c:dLbl>
              <c:idx val="2"/>
              <c:layout>
                <c:manualLayout>
                  <c:x val="-2.2552999548940009E-2"/>
                  <c:y val="0.11481056257175661"/>
                </c:manualLayout>
              </c:layout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88E-42E3-9351-E44FBB8F070F}"/>
                </c:ext>
              </c:extLst>
            </c:dLbl>
            <c:dLbl>
              <c:idx val="6"/>
              <c:layout>
                <c:manualLayout>
                  <c:x val="-6.3148398737032027E-2"/>
                  <c:y val="-8.0367393800229628E-2"/>
                </c:manualLayout>
              </c:layout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588E-42E3-9351-E44FBB8F070F}"/>
                </c:ext>
              </c:extLst>
            </c:dLbl>
            <c:dLbl>
              <c:idx val="8"/>
              <c:layout>
                <c:manualLayout>
                  <c:x val="3.3829499323410013E-2"/>
                  <c:y val="-0.10715652506697283"/>
                </c:manualLayout>
              </c:layout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588E-42E3-9351-E44FBB8F070F}"/>
                </c:ext>
              </c:extLst>
            </c:dLbl>
            <c:dLbl>
              <c:idx val="9"/>
              <c:layout>
                <c:manualLayout>
                  <c:x val="0.17140279657194407"/>
                  <c:y val="-5.357826253348643E-2"/>
                </c:manualLayout>
              </c:layout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588E-42E3-9351-E44FBB8F070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dk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multiLvlStrRef>
              <c:f>'Daily Sales'!$A$4:$A$20</c:f>
              <c:multiLvlStrCache>
                <c:ptCount val="10"/>
                <c:lvl>
                  <c:pt idx="0">
                    <c:v>Astoria</c:v>
                  </c:pt>
                  <c:pt idx="1">
                    <c:v>Hell's Kitchen</c:v>
                  </c:pt>
                  <c:pt idx="2">
                    <c:v>Lower Manhattan</c:v>
                  </c:pt>
                  <c:pt idx="3">
                    <c:v>Astoria</c:v>
                  </c:pt>
                  <c:pt idx="4">
                    <c:v>Hell's Kitchen</c:v>
                  </c:pt>
                  <c:pt idx="5">
                    <c:v>Lower Manhattan</c:v>
                  </c:pt>
                  <c:pt idx="6">
                    <c:v>Lower Manhattan</c:v>
                  </c:pt>
                  <c:pt idx="7">
                    <c:v>Lower Manhattan</c:v>
                  </c:pt>
                  <c:pt idx="8">
                    <c:v>Lower Manhattan</c:v>
                  </c:pt>
                  <c:pt idx="9">
                    <c:v>Hell's Kitchen</c:v>
                  </c:pt>
                </c:lvl>
                <c:lvl>
                  <c:pt idx="0">
                    <c:v>1</c:v>
                  </c:pt>
                  <c:pt idx="3">
                    <c:v>2</c:v>
                  </c:pt>
                  <c:pt idx="6">
                    <c:v>3</c:v>
                  </c:pt>
                  <c:pt idx="7">
                    <c:v>4</c:v>
                  </c:pt>
                  <c:pt idx="8">
                    <c:v>6</c:v>
                  </c:pt>
                  <c:pt idx="9">
                    <c:v>8</c:v>
                  </c:pt>
                </c:lvl>
              </c:multiLvlStrCache>
            </c:multiLvlStrRef>
          </c:cat>
          <c:val>
            <c:numRef>
              <c:f>'Daily Sales'!$B$4:$B$20</c:f>
              <c:numCache>
                <c:formatCode>_-[$R-1C09]* #\ ##0.00_-;\-[$R-1C09]* #\ ##0.00_-;_-[$R-1C09]* "-"??_-;_-@_-</c:formatCode>
                <c:ptCount val="10"/>
                <c:pt idx="0">
                  <c:v>110300.91000000101</c:v>
                </c:pt>
                <c:pt idx="1">
                  <c:v>110600.17000000222</c:v>
                </c:pt>
                <c:pt idx="2">
                  <c:v>101529.75000000153</c:v>
                </c:pt>
                <c:pt idx="3">
                  <c:v>121942.99999999741</c:v>
                </c:pt>
                <c:pt idx="4">
                  <c:v>122310.99999999866</c:v>
                </c:pt>
                <c:pt idx="5">
                  <c:v>99275.600000000166</c:v>
                </c:pt>
                <c:pt idx="6">
                  <c:v>28829.099999999831</c:v>
                </c:pt>
                <c:pt idx="7">
                  <c:v>206.8</c:v>
                </c:pt>
                <c:pt idx="8">
                  <c:v>216</c:v>
                </c:pt>
                <c:pt idx="9">
                  <c:v>3600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588E-42E3-9351-E44FBB8F070F}"/>
            </c:ext>
          </c:extLst>
        </c:ser>
        <c:dLbls>
          <c:dLblPos val="outEnd"/>
          <c:showLegendKey val="0"/>
          <c:showVal val="0"/>
          <c:showCatName val="1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80467588788751421"/>
          <c:y val="0.37240405787157776"/>
          <c:w val="0.18542965249567098"/>
          <c:h val="0.36586830120384922"/>
        </c:manualLayout>
      </c:layout>
      <c:overlay val="0"/>
      <c:spPr>
        <a:solidFill>
          <a:schemeClr val="lt1">
            <a:alpha val="50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pattFill prst="dkDnDiag">
      <a:fgClr>
        <a:schemeClr val="lt1"/>
      </a:fgClr>
      <a:bgClr>
        <a:schemeClr val="dk1">
          <a:lumMod val="10000"/>
          <a:lumOff val="90000"/>
        </a:schemeClr>
      </a:bgClr>
    </a:patt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[bright_coffee_data_analysis.xlsx]Sales per store!PivotTable6</c:name>
    <c:fmtId val="1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cap="all" spc="5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overall sales per store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cap="all" spc="5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gradFill flip="none" rotWithShape="1">
            <a:gsLst>
              <a:gs pos="0">
                <a:schemeClr val="accent1"/>
              </a:gs>
              <a:gs pos="75000">
                <a:schemeClr val="accent1">
                  <a:lumMod val="60000"/>
                  <a:lumOff val="40000"/>
                </a:schemeClr>
              </a:gs>
              <a:gs pos="51000">
                <a:schemeClr val="accent1">
                  <a:alpha val="75000"/>
                </a:schemeClr>
              </a:gs>
              <a:gs pos="100000">
                <a:schemeClr val="accent1">
                  <a:lumMod val="20000"/>
                  <a:lumOff val="80000"/>
                  <a:alpha val="15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circle"/>
          <c:size val="6"/>
          <c:spPr>
            <a:gradFill flip="none" rotWithShape="1">
              <a:gsLst>
                <a:gs pos="0">
                  <a:schemeClr val="accent1"/>
                </a:gs>
                <a:gs pos="75000">
                  <a:schemeClr val="accent1">
                    <a:lumMod val="60000"/>
                    <a:lumOff val="40000"/>
                  </a:schemeClr>
                </a:gs>
                <a:gs pos="51000">
                  <a:schemeClr val="accent1">
                    <a:alpha val="75000"/>
                  </a:schemeClr>
                </a:gs>
                <a:gs pos="100000">
                  <a:schemeClr val="accent1">
                    <a:lumMod val="20000"/>
                    <a:lumOff val="80000"/>
                    <a:alpha val="15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1">
                  <a:shade val="95000"/>
                </a:schemeClr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flip="none" rotWithShape="1">
            <a:gsLst>
              <a:gs pos="0">
                <a:schemeClr val="accent1"/>
              </a:gs>
              <a:gs pos="75000">
                <a:schemeClr val="accent1">
                  <a:lumMod val="60000"/>
                  <a:lumOff val="40000"/>
                </a:schemeClr>
              </a:gs>
              <a:gs pos="51000">
                <a:schemeClr val="accent1">
                  <a:alpha val="75000"/>
                </a:schemeClr>
              </a:gs>
              <a:gs pos="100000">
                <a:schemeClr val="accent1">
                  <a:lumMod val="20000"/>
                  <a:lumOff val="80000"/>
                  <a:alpha val="15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flip="none" rotWithShape="1">
            <a:gsLst>
              <a:gs pos="0">
                <a:schemeClr val="accent1"/>
              </a:gs>
              <a:gs pos="75000">
                <a:schemeClr val="accent1">
                  <a:lumMod val="60000"/>
                  <a:lumOff val="40000"/>
                </a:schemeClr>
              </a:gs>
              <a:gs pos="51000">
                <a:schemeClr val="accent1">
                  <a:alpha val="75000"/>
                </a:schemeClr>
              </a:gs>
              <a:gs pos="100000">
                <a:schemeClr val="accent1">
                  <a:lumMod val="20000"/>
                  <a:lumOff val="80000"/>
                  <a:alpha val="15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11713648293963255"/>
          <c:y val="0.26328484981044037"/>
          <c:w val="0.73816426071741037"/>
          <c:h val="0.5381142461358996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'Sales per store'!$B$3</c:f>
              <c:strCache>
                <c:ptCount val="1"/>
                <c:pt idx="0">
                  <c:v>Total</c:v>
                </c:pt>
              </c:strCache>
            </c:strRef>
          </c:tx>
          <c:spPr>
            <a:gradFill flip="none" rotWithShape="1">
              <a:gsLst>
                <a:gs pos="0">
                  <a:schemeClr val="accent1"/>
                </a:gs>
                <a:gs pos="75000">
                  <a:schemeClr val="accent1">
                    <a:lumMod val="60000"/>
                    <a:lumOff val="40000"/>
                  </a:schemeClr>
                </a:gs>
                <a:gs pos="51000">
                  <a:schemeClr val="accent1">
                    <a:alpha val="75000"/>
                  </a:schemeClr>
                </a:gs>
                <a:gs pos="100000">
                  <a:schemeClr val="accent1">
                    <a:lumMod val="20000"/>
                    <a:lumOff val="80000"/>
                    <a:alpha val="15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'Sales per store'!$A$4:$A$7</c:f>
              <c:strCache>
                <c:ptCount val="3"/>
                <c:pt idx="0">
                  <c:v>Astoria</c:v>
                </c:pt>
                <c:pt idx="1">
                  <c:v>Hell's Kitchen</c:v>
                </c:pt>
                <c:pt idx="2">
                  <c:v>Lower Manhattan</c:v>
                </c:pt>
              </c:strCache>
            </c:strRef>
          </c:cat>
          <c:val>
            <c:numRef>
              <c:f>'Sales per store'!$B$4:$B$7</c:f>
              <c:numCache>
                <c:formatCode>_-[$R-1C09]* #\ ##0.00_-;\-[$R-1C09]* #\ ##0.00_-;_-[$R-1C09]* "-"??_-;_-@_-</c:formatCode>
                <c:ptCount val="3"/>
                <c:pt idx="0">
                  <c:v>232243.91000000975</c:v>
                </c:pt>
                <c:pt idx="1">
                  <c:v>236511.17000000973</c:v>
                </c:pt>
                <c:pt idx="2">
                  <c:v>230057.25000000748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F1A-4BDA-BEE7-D7D5960947C6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355"/>
        <c:overlap val="-70"/>
        <c:axId val="400984696"/>
        <c:axId val="400986496"/>
      </c:barChart>
      <c:catAx>
        <c:axId val="4009846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00986496"/>
        <c:crosses val="autoZero"/>
        <c:auto val="1"/>
        <c:lblAlgn val="ctr"/>
        <c:lblOffset val="100"/>
        <c:noMultiLvlLbl val="0"/>
      </c:catAx>
      <c:valAx>
        <c:axId val="400986496"/>
        <c:scaling>
          <c:orientation val="minMax"/>
        </c:scaling>
        <c:delete val="0"/>
        <c:axPos val="l"/>
        <c:majorGridlines>
          <c:spPr>
            <a:ln w="9525" cap="flat" cmpd="sng" algn="ctr">
              <a:gradFill>
                <a:gsLst>
                  <a:gs pos="100000">
                    <a:schemeClr val="tx1">
                      <a:lumMod val="5000"/>
                      <a:lumOff val="95000"/>
                    </a:schemeClr>
                  </a:gs>
                  <a:gs pos="0">
                    <a:schemeClr val="tx1">
                      <a:lumMod val="25000"/>
                      <a:lumOff val="75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_-[$R-1C09]* #\ ##0.00_-;\-[$R-1C09]* #\ ##0.00_-;_-[$R-1C09]* &quot;-&quot;??_-;_-@_-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009846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[bright_coffee_data_analysis.xlsx]Sheet7!PivotTable8</c:name>
    <c:fmtId val="8"/>
  </c:pivotSource>
  <c:chart>
    <c:autoTitleDeleted val="1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Sheet7!$B$3</c:f>
              <c:strCache>
                <c:ptCount val="1"/>
                <c:pt idx="0">
                  <c:v>Sum of Revenue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Sheet7!$A$4:$A$7</c:f>
              <c:strCache>
                <c:ptCount val="3"/>
                <c:pt idx="0">
                  <c:v>Astoria</c:v>
                </c:pt>
                <c:pt idx="1">
                  <c:v>Hell's Kitchen</c:v>
                </c:pt>
                <c:pt idx="2">
                  <c:v>Lower Manhattan</c:v>
                </c:pt>
              </c:strCache>
            </c:strRef>
          </c:cat>
          <c:val>
            <c:numRef>
              <c:f>Sheet7!$B$4:$B$7</c:f>
              <c:numCache>
                <c:formatCode>_-[$R-1C09]* #\ ##0.00_-;\-[$R-1C09]* #\ ##0.00_-;_-[$R-1C09]* "-"??_-;_-@_-</c:formatCode>
                <c:ptCount val="3"/>
                <c:pt idx="0">
                  <c:v>232243.91000000975</c:v>
                </c:pt>
                <c:pt idx="1">
                  <c:v>236511.17000000973</c:v>
                </c:pt>
                <c:pt idx="2">
                  <c:v>230057.25000000748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F48-4890-A35F-F445A3AFD15D}"/>
            </c:ext>
          </c:extLst>
        </c:ser>
        <c:ser>
          <c:idx val="1"/>
          <c:order val="1"/>
          <c:tx>
            <c:strRef>
              <c:f>Sheet7!$C$3</c:f>
              <c:strCache>
                <c:ptCount val="1"/>
                <c:pt idx="0">
                  <c:v>Sum of product_id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Sheet7!$A$4:$A$7</c:f>
              <c:strCache>
                <c:ptCount val="3"/>
                <c:pt idx="0">
                  <c:v>Astoria</c:v>
                </c:pt>
                <c:pt idx="1">
                  <c:v>Hell's Kitchen</c:v>
                </c:pt>
                <c:pt idx="2">
                  <c:v>Lower Manhattan</c:v>
                </c:pt>
              </c:strCache>
            </c:strRef>
          </c:cat>
          <c:val>
            <c:numRef>
              <c:f>Sheet7!$C$4:$C$7</c:f>
              <c:numCache>
                <c:formatCode>_-[$R-1C09]* #\ ##0.00_-;\-[$R-1C09]* #\ ##0.00_-;_-[$R-1C09]* "-"??_-;_-@_-</c:formatCode>
                <c:ptCount val="3"/>
                <c:pt idx="0">
                  <c:v>2366961</c:v>
                </c:pt>
                <c:pt idx="1">
                  <c:v>2440260</c:v>
                </c:pt>
                <c:pt idx="2">
                  <c:v>2338210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F48-4890-A35F-F445A3AFD1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74338656"/>
        <c:axId val="1074339016"/>
      </c:barChart>
      <c:catAx>
        <c:axId val="10743386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74339016"/>
        <c:crosses val="autoZero"/>
        <c:auto val="1"/>
        <c:lblAlgn val="ctr"/>
        <c:lblOffset val="100"/>
        <c:noMultiLvlLbl val="0"/>
      </c:catAx>
      <c:valAx>
        <c:axId val="10743390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-[$R-1C09]* #\ ##0.00_-;\-[$R-1C09]* #\ ##0.00_-;_-[$R-1C09]* &quot;-&quot;??_-;_-@_-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7433865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pivotSource>
    <c:name>[bright_coffee_data_analysis.xlsx]Daily transactions!PivotTable4</c:name>
    <c:fmtId val="1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Total</a:t>
            </a:r>
            <a:r>
              <a:rPr lang="en-US" baseline="0" dirty="0"/>
              <a:t> amount of</a:t>
            </a:r>
            <a:r>
              <a:rPr lang="en-US" dirty="0"/>
              <a:t> transactions from</a:t>
            </a:r>
            <a:r>
              <a:rPr lang="en-US" baseline="0" dirty="0"/>
              <a:t> January to June</a:t>
            </a:r>
            <a:r>
              <a:rPr lang="en-US" dirty="0"/>
              <a:t> months</a:t>
            </a:r>
          </a:p>
        </c:rich>
      </c:tx>
      <c:layout>
        <c:manualLayout>
          <c:xMode val="edge"/>
          <c:yMode val="edge"/>
          <c:x val="0.36938541666666669"/>
          <c:y val="6.349207407275325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4"/>
          </a:solidFill>
          <a:ln w="28575" cap="rnd">
            <a:solidFill>
              <a:schemeClr val="accent4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4"/>
            </a:solidFill>
            <a:ln w="9525">
              <a:solidFill>
                <a:schemeClr val="accent4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4"/>
          </a:solidFill>
          <a:ln w="28575" cap="rnd">
            <a:solidFill>
              <a:schemeClr val="accent4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4"/>
            </a:solidFill>
            <a:ln w="9525">
              <a:solidFill>
                <a:schemeClr val="accent4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4"/>
          </a:solidFill>
          <a:ln w="28575" cap="rnd">
            <a:solidFill>
              <a:schemeClr val="accent4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4"/>
            </a:solidFill>
            <a:ln w="9525">
              <a:solidFill>
                <a:schemeClr val="accent4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7.6583746869697975E-2"/>
          <c:y val="0.23565795250322952"/>
          <c:w val="0.77675589134354162"/>
          <c:h val="0.51806096440111049"/>
        </c:manualLayout>
      </c:layout>
      <c:lineChart>
        <c:grouping val="standard"/>
        <c:varyColors val="0"/>
        <c:ser>
          <c:idx val="0"/>
          <c:order val="0"/>
          <c:tx>
            <c:strRef>
              <c:f>'Daily transactions'!$B$3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cat>
            <c:strRef>
              <c:f>'Daily transactions'!$A$4:$A$185</c:f>
              <c:strCache>
                <c:ptCount val="181"/>
                <c:pt idx="0">
                  <c:v>01-Jan</c:v>
                </c:pt>
                <c:pt idx="1">
                  <c:v>02-Jan</c:v>
                </c:pt>
                <c:pt idx="2">
                  <c:v>03-Jan</c:v>
                </c:pt>
                <c:pt idx="3">
                  <c:v>04-Jan</c:v>
                </c:pt>
                <c:pt idx="4">
                  <c:v>05-Jan</c:v>
                </c:pt>
                <c:pt idx="5">
                  <c:v>06-Jan</c:v>
                </c:pt>
                <c:pt idx="6">
                  <c:v>07-Jan</c:v>
                </c:pt>
                <c:pt idx="7">
                  <c:v>08-Jan</c:v>
                </c:pt>
                <c:pt idx="8">
                  <c:v>09-Jan</c:v>
                </c:pt>
                <c:pt idx="9">
                  <c:v>10-Jan</c:v>
                </c:pt>
                <c:pt idx="10">
                  <c:v>11-Jan</c:v>
                </c:pt>
                <c:pt idx="11">
                  <c:v>12-Jan</c:v>
                </c:pt>
                <c:pt idx="12">
                  <c:v>13-Jan</c:v>
                </c:pt>
                <c:pt idx="13">
                  <c:v>14-Jan</c:v>
                </c:pt>
                <c:pt idx="14">
                  <c:v>15-Jan</c:v>
                </c:pt>
                <c:pt idx="15">
                  <c:v>16-Jan</c:v>
                </c:pt>
                <c:pt idx="16">
                  <c:v>17-Jan</c:v>
                </c:pt>
                <c:pt idx="17">
                  <c:v>18-Jan</c:v>
                </c:pt>
                <c:pt idx="18">
                  <c:v>19-Jan</c:v>
                </c:pt>
                <c:pt idx="19">
                  <c:v>20-Jan</c:v>
                </c:pt>
                <c:pt idx="20">
                  <c:v>21-Jan</c:v>
                </c:pt>
                <c:pt idx="21">
                  <c:v>22-Jan</c:v>
                </c:pt>
                <c:pt idx="22">
                  <c:v>23-Jan</c:v>
                </c:pt>
                <c:pt idx="23">
                  <c:v>24-Jan</c:v>
                </c:pt>
                <c:pt idx="24">
                  <c:v>25-Jan</c:v>
                </c:pt>
                <c:pt idx="25">
                  <c:v>26-Jan</c:v>
                </c:pt>
                <c:pt idx="26">
                  <c:v>27-Jan</c:v>
                </c:pt>
                <c:pt idx="27">
                  <c:v>28-Jan</c:v>
                </c:pt>
                <c:pt idx="28">
                  <c:v>29-Jan</c:v>
                </c:pt>
                <c:pt idx="29">
                  <c:v>30-Jan</c:v>
                </c:pt>
                <c:pt idx="30">
                  <c:v>31-Jan</c:v>
                </c:pt>
                <c:pt idx="31">
                  <c:v>01-Feb</c:v>
                </c:pt>
                <c:pt idx="32">
                  <c:v>02-Feb</c:v>
                </c:pt>
                <c:pt idx="33">
                  <c:v>03-Feb</c:v>
                </c:pt>
                <c:pt idx="34">
                  <c:v>04-Feb</c:v>
                </c:pt>
                <c:pt idx="35">
                  <c:v>05-Feb</c:v>
                </c:pt>
                <c:pt idx="36">
                  <c:v>06-Feb</c:v>
                </c:pt>
                <c:pt idx="37">
                  <c:v>07-Feb</c:v>
                </c:pt>
                <c:pt idx="38">
                  <c:v>08-Feb</c:v>
                </c:pt>
                <c:pt idx="39">
                  <c:v>09-Feb</c:v>
                </c:pt>
                <c:pt idx="40">
                  <c:v>10-Feb</c:v>
                </c:pt>
                <c:pt idx="41">
                  <c:v>11-Feb</c:v>
                </c:pt>
                <c:pt idx="42">
                  <c:v>12-Feb</c:v>
                </c:pt>
                <c:pt idx="43">
                  <c:v>13-Feb</c:v>
                </c:pt>
                <c:pt idx="44">
                  <c:v>14-Feb</c:v>
                </c:pt>
                <c:pt idx="45">
                  <c:v>15-Feb</c:v>
                </c:pt>
                <c:pt idx="46">
                  <c:v>16-Feb</c:v>
                </c:pt>
                <c:pt idx="47">
                  <c:v>17-Feb</c:v>
                </c:pt>
                <c:pt idx="48">
                  <c:v>18-Feb</c:v>
                </c:pt>
                <c:pt idx="49">
                  <c:v>19-Feb</c:v>
                </c:pt>
                <c:pt idx="50">
                  <c:v>20-Feb</c:v>
                </c:pt>
                <c:pt idx="51">
                  <c:v>21-Feb</c:v>
                </c:pt>
                <c:pt idx="52">
                  <c:v>22-Feb</c:v>
                </c:pt>
                <c:pt idx="53">
                  <c:v>23-Feb</c:v>
                </c:pt>
                <c:pt idx="54">
                  <c:v>24-Feb</c:v>
                </c:pt>
                <c:pt idx="55">
                  <c:v>25-Feb</c:v>
                </c:pt>
                <c:pt idx="56">
                  <c:v>26-Feb</c:v>
                </c:pt>
                <c:pt idx="57">
                  <c:v>27-Feb</c:v>
                </c:pt>
                <c:pt idx="58">
                  <c:v>28-Feb</c:v>
                </c:pt>
                <c:pt idx="59">
                  <c:v>01-Mar</c:v>
                </c:pt>
                <c:pt idx="60">
                  <c:v>02-Mar</c:v>
                </c:pt>
                <c:pt idx="61">
                  <c:v>03-Mar</c:v>
                </c:pt>
                <c:pt idx="62">
                  <c:v>04-Mar</c:v>
                </c:pt>
                <c:pt idx="63">
                  <c:v>05-Mar</c:v>
                </c:pt>
                <c:pt idx="64">
                  <c:v>06-Mar</c:v>
                </c:pt>
                <c:pt idx="65">
                  <c:v>07-Mar</c:v>
                </c:pt>
                <c:pt idx="66">
                  <c:v>08-Mar</c:v>
                </c:pt>
                <c:pt idx="67">
                  <c:v>09-Mar</c:v>
                </c:pt>
                <c:pt idx="68">
                  <c:v>10-Mar</c:v>
                </c:pt>
                <c:pt idx="69">
                  <c:v>11-Mar</c:v>
                </c:pt>
                <c:pt idx="70">
                  <c:v>12-Mar</c:v>
                </c:pt>
                <c:pt idx="71">
                  <c:v>13-Mar</c:v>
                </c:pt>
                <c:pt idx="72">
                  <c:v>14-Mar</c:v>
                </c:pt>
                <c:pt idx="73">
                  <c:v>15-Mar</c:v>
                </c:pt>
                <c:pt idx="74">
                  <c:v>16-Mar</c:v>
                </c:pt>
                <c:pt idx="75">
                  <c:v>17-Mar</c:v>
                </c:pt>
                <c:pt idx="76">
                  <c:v>18-Mar</c:v>
                </c:pt>
                <c:pt idx="77">
                  <c:v>19-Mar</c:v>
                </c:pt>
                <c:pt idx="78">
                  <c:v>20-Mar</c:v>
                </c:pt>
                <c:pt idx="79">
                  <c:v>21-Mar</c:v>
                </c:pt>
                <c:pt idx="80">
                  <c:v>22-Mar</c:v>
                </c:pt>
                <c:pt idx="81">
                  <c:v>23-Mar</c:v>
                </c:pt>
                <c:pt idx="82">
                  <c:v>24-Mar</c:v>
                </c:pt>
                <c:pt idx="83">
                  <c:v>25-Mar</c:v>
                </c:pt>
                <c:pt idx="84">
                  <c:v>26-Mar</c:v>
                </c:pt>
                <c:pt idx="85">
                  <c:v>27-Mar</c:v>
                </c:pt>
                <c:pt idx="86">
                  <c:v>28-Mar</c:v>
                </c:pt>
                <c:pt idx="87">
                  <c:v>29-Mar</c:v>
                </c:pt>
                <c:pt idx="88">
                  <c:v>30-Mar</c:v>
                </c:pt>
                <c:pt idx="89">
                  <c:v>31-Mar</c:v>
                </c:pt>
                <c:pt idx="90">
                  <c:v>01-Apr</c:v>
                </c:pt>
                <c:pt idx="91">
                  <c:v>02-Apr</c:v>
                </c:pt>
                <c:pt idx="92">
                  <c:v>03-Apr</c:v>
                </c:pt>
                <c:pt idx="93">
                  <c:v>04-Apr</c:v>
                </c:pt>
                <c:pt idx="94">
                  <c:v>05-Apr</c:v>
                </c:pt>
                <c:pt idx="95">
                  <c:v>06-Apr</c:v>
                </c:pt>
                <c:pt idx="96">
                  <c:v>07-Apr</c:v>
                </c:pt>
                <c:pt idx="97">
                  <c:v>08-Apr</c:v>
                </c:pt>
                <c:pt idx="98">
                  <c:v>09-Apr</c:v>
                </c:pt>
                <c:pt idx="99">
                  <c:v>10-Apr</c:v>
                </c:pt>
                <c:pt idx="100">
                  <c:v>11-Apr</c:v>
                </c:pt>
                <c:pt idx="101">
                  <c:v>12-Apr</c:v>
                </c:pt>
                <c:pt idx="102">
                  <c:v>13-Apr</c:v>
                </c:pt>
                <c:pt idx="103">
                  <c:v>14-Apr</c:v>
                </c:pt>
                <c:pt idx="104">
                  <c:v>15-Apr</c:v>
                </c:pt>
                <c:pt idx="105">
                  <c:v>16-Apr</c:v>
                </c:pt>
                <c:pt idx="106">
                  <c:v>17-Apr</c:v>
                </c:pt>
                <c:pt idx="107">
                  <c:v>18-Apr</c:v>
                </c:pt>
                <c:pt idx="108">
                  <c:v>19-Apr</c:v>
                </c:pt>
                <c:pt idx="109">
                  <c:v>20-Apr</c:v>
                </c:pt>
                <c:pt idx="110">
                  <c:v>21-Apr</c:v>
                </c:pt>
                <c:pt idx="111">
                  <c:v>22-Apr</c:v>
                </c:pt>
                <c:pt idx="112">
                  <c:v>23-Apr</c:v>
                </c:pt>
                <c:pt idx="113">
                  <c:v>24-Apr</c:v>
                </c:pt>
                <c:pt idx="114">
                  <c:v>25-Apr</c:v>
                </c:pt>
                <c:pt idx="115">
                  <c:v>26-Apr</c:v>
                </c:pt>
                <c:pt idx="116">
                  <c:v>27-Apr</c:v>
                </c:pt>
                <c:pt idx="117">
                  <c:v>28-Apr</c:v>
                </c:pt>
                <c:pt idx="118">
                  <c:v>29-Apr</c:v>
                </c:pt>
                <c:pt idx="119">
                  <c:v>30-Apr</c:v>
                </c:pt>
                <c:pt idx="120">
                  <c:v>01-May</c:v>
                </c:pt>
                <c:pt idx="121">
                  <c:v>02-May</c:v>
                </c:pt>
                <c:pt idx="122">
                  <c:v>03-May</c:v>
                </c:pt>
                <c:pt idx="123">
                  <c:v>04-May</c:v>
                </c:pt>
                <c:pt idx="124">
                  <c:v>05-May</c:v>
                </c:pt>
                <c:pt idx="125">
                  <c:v>06-May</c:v>
                </c:pt>
                <c:pt idx="126">
                  <c:v>07-May</c:v>
                </c:pt>
                <c:pt idx="127">
                  <c:v>08-May</c:v>
                </c:pt>
                <c:pt idx="128">
                  <c:v>09-May</c:v>
                </c:pt>
                <c:pt idx="129">
                  <c:v>10-May</c:v>
                </c:pt>
                <c:pt idx="130">
                  <c:v>11-May</c:v>
                </c:pt>
                <c:pt idx="131">
                  <c:v>12-May</c:v>
                </c:pt>
                <c:pt idx="132">
                  <c:v>13-May</c:v>
                </c:pt>
                <c:pt idx="133">
                  <c:v>14-May</c:v>
                </c:pt>
                <c:pt idx="134">
                  <c:v>15-May</c:v>
                </c:pt>
                <c:pt idx="135">
                  <c:v>16-May</c:v>
                </c:pt>
                <c:pt idx="136">
                  <c:v>17-May</c:v>
                </c:pt>
                <c:pt idx="137">
                  <c:v>18-May</c:v>
                </c:pt>
                <c:pt idx="138">
                  <c:v>19-May</c:v>
                </c:pt>
                <c:pt idx="139">
                  <c:v>20-May</c:v>
                </c:pt>
                <c:pt idx="140">
                  <c:v>21-May</c:v>
                </c:pt>
                <c:pt idx="141">
                  <c:v>22-May</c:v>
                </c:pt>
                <c:pt idx="142">
                  <c:v>23-May</c:v>
                </c:pt>
                <c:pt idx="143">
                  <c:v>24-May</c:v>
                </c:pt>
                <c:pt idx="144">
                  <c:v>25-May</c:v>
                </c:pt>
                <c:pt idx="145">
                  <c:v>26-May</c:v>
                </c:pt>
                <c:pt idx="146">
                  <c:v>27-May</c:v>
                </c:pt>
                <c:pt idx="147">
                  <c:v>28-May</c:v>
                </c:pt>
                <c:pt idx="148">
                  <c:v>29-May</c:v>
                </c:pt>
                <c:pt idx="149">
                  <c:v>30-May</c:v>
                </c:pt>
                <c:pt idx="150">
                  <c:v>31-May</c:v>
                </c:pt>
                <c:pt idx="151">
                  <c:v>01-Jun</c:v>
                </c:pt>
                <c:pt idx="152">
                  <c:v>02-Jun</c:v>
                </c:pt>
                <c:pt idx="153">
                  <c:v>03-Jun</c:v>
                </c:pt>
                <c:pt idx="154">
                  <c:v>04-Jun</c:v>
                </c:pt>
                <c:pt idx="155">
                  <c:v>05-Jun</c:v>
                </c:pt>
                <c:pt idx="156">
                  <c:v>06-Jun</c:v>
                </c:pt>
                <c:pt idx="157">
                  <c:v>07-Jun</c:v>
                </c:pt>
                <c:pt idx="158">
                  <c:v>08-Jun</c:v>
                </c:pt>
                <c:pt idx="159">
                  <c:v>09-Jun</c:v>
                </c:pt>
                <c:pt idx="160">
                  <c:v>10-Jun</c:v>
                </c:pt>
                <c:pt idx="161">
                  <c:v>11-Jun</c:v>
                </c:pt>
                <c:pt idx="162">
                  <c:v>12-Jun</c:v>
                </c:pt>
                <c:pt idx="163">
                  <c:v>13-Jun</c:v>
                </c:pt>
                <c:pt idx="164">
                  <c:v>14-Jun</c:v>
                </c:pt>
                <c:pt idx="165">
                  <c:v>15-Jun</c:v>
                </c:pt>
                <c:pt idx="166">
                  <c:v>16-Jun</c:v>
                </c:pt>
                <c:pt idx="167">
                  <c:v>17-Jun</c:v>
                </c:pt>
                <c:pt idx="168">
                  <c:v>18-Jun</c:v>
                </c:pt>
                <c:pt idx="169">
                  <c:v>19-Jun</c:v>
                </c:pt>
                <c:pt idx="170">
                  <c:v>20-Jun</c:v>
                </c:pt>
                <c:pt idx="171">
                  <c:v>21-Jun</c:v>
                </c:pt>
                <c:pt idx="172">
                  <c:v>22-Jun</c:v>
                </c:pt>
                <c:pt idx="173">
                  <c:v>23-Jun</c:v>
                </c:pt>
                <c:pt idx="174">
                  <c:v>24-Jun</c:v>
                </c:pt>
                <c:pt idx="175">
                  <c:v>25-Jun</c:v>
                </c:pt>
                <c:pt idx="176">
                  <c:v>26-Jun</c:v>
                </c:pt>
                <c:pt idx="177">
                  <c:v>27-Jun</c:v>
                </c:pt>
                <c:pt idx="178">
                  <c:v>28-Jun</c:v>
                </c:pt>
                <c:pt idx="179">
                  <c:v>29-Jun</c:v>
                </c:pt>
                <c:pt idx="180">
                  <c:v>30-Jun</c:v>
                </c:pt>
              </c:strCache>
            </c:strRef>
          </c:cat>
          <c:val>
            <c:numRef>
              <c:f>'Daily transactions'!$B$4:$B$185</c:f>
              <c:numCache>
                <c:formatCode>_-[$R-1C09]* #\ ##0.00_-;\-[$R-1C09]* #\ ##0.00_-;_-[$R-1C09]* "-"??_-;_-@_-</c:formatCode>
                <c:ptCount val="181"/>
                <c:pt idx="0">
                  <c:v>2508.2000000000007</c:v>
                </c:pt>
                <c:pt idx="1">
                  <c:v>2403.3500000000004</c:v>
                </c:pt>
                <c:pt idx="2">
                  <c:v>2565.0000000000005</c:v>
                </c:pt>
                <c:pt idx="3">
                  <c:v>2220.1</c:v>
                </c:pt>
                <c:pt idx="4">
                  <c:v>2418.8500000000004</c:v>
                </c:pt>
                <c:pt idx="5">
                  <c:v>2273.85</c:v>
                </c:pt>
                <c:pt idx="6">
                  <c:v>2619.6499999999987</c:v>
                </c:pt>
                <c:pt idx="7">
                  <c:v>2638.5299999999984</c:v>
                </c:pt>
                <c:pt idx="8">
                  <c:v>2676.6099999999983</c:v>
                </c:pt>
                <c:pt idx="9">
                  <c:v>2685.6499999999992</c:v>
                </c:pt>
                <c:pt idx="10">
                  <c:v>2555.7499999999986</c:v>
                </c:pt>
                <c:pt idx="11">
                  <c:v>2327.6999999999994</c:v>
                </c:pt>
                <c:pt idx="12">
                  <c:v>3033.5999999999985</c:v>
                </c:pt>
                <c:pt idx="13">
                  <c:v>2682.5099999999975</c:v>
                </c:pt>
                <c:pt idx="14">
                  <c:v>3167.7099999999964</c:v>
                </c:pt>
                <c:pt idx="15">
                  <c:v>2829.1599999999976</c:v>
                </c:pt>
                <c:pt idx="16">
                  <c:v>3285.7999999999975</c:v>
                </c:pt>
                <c:pt idx="17">
                  <c:v>2735.9599999999973</c:v>
                </c:pt>
                <c:pt idx="18">
                  <c:v>2913.6799999999994</c:v>
                </c:pt>
                <c:pt idx="19">
                  <c:v>2603.7299999999991</c:v>
                </c:pt>
                <c:pt idx="20">
                  <c:v>3082.8499999999976</c:v>
                </c:pt>
                <c:pt idx="21">
                  <c:v>2367.3299999999986</c:v>
                </c:pt>
                <c:pt idx="22">
                  <c:v>2853.1499999999983</c:v>
                </c:pt>
                <c:pt idx="23">
                  <c:v>2868.949999999998</c:v>
                </c:pt>
                <c:pt idx="24">
                  <c:v>2846.5499999999984</c:v>
                </c:pt>
                <c:pt idx="25">
                  <c:v>2863.0299999999979</c:v>
                </c:pt>
                <c:pt idx="26">
                  <c:v>2742.0999999999995</c:v>
                </c:pt>
                <c:pt idx="27">
                  <c:v>2037.1000000000004</c:v>
                </c:pt>
                <c:pt idx="28">
                  <c:v>2060.7500000000009</c:v>
                </c:pt>
                <c:pt idx="29">
                  <c:v>2476.4100000000003</c:v>
                </c:pt>
                <c:pt idx="30">
                  <c:v>2334.13</c:v>
                </c:pt>
                <c:pt idx="31">
                  <c:v>2466.3000000000002</c:v>
                </c:pt>
                <c:pt idx="32">
                  <c:v>2506.8999999999992</c:v>
                </c:pt>
                <c:pt idx="33">
                  <c:v>2591.4499999999994</c:v>
                </c:pt>
                <c:pt idx="34">
                  <c:v>2551.7000000000003</c:v>
                </c:pt>
                <c:pt idx="35">
                  <c:v>2304.7000000000003</c:v>
                </c:pt>
                <c:pt idx="36">
                  <c:v>2203.3999999999996</c:v>
                </c:pt>
                <c:pt idx="37">
                  <c:v>2434.5500000000002</c:v>
                </c:pt>
                <c:pt idx="38">
                  <c:v>2762.429999999998</c:v>
                </c:pt>
                <c:pt idx="39">
                  <c:v>2610.6299999999974</c:v>
                </c:pt>
                <c:pt idx="40">
                  <c:v>2901.5999999999981</c:v>
                </c:pt>
                <c:pt idx="41">
                  <c:v>2526.739999999998</c:v>
                </c:pt>
                <c:pt idx="42">
                  <c:v>2893.9999999999977</c:v>
                </c:pt>
                <c:pt idx="43">
                  <c:v>2845.4799999999991</c:v>
                </c:pt>
                <c:pt idx="44">
                  <c:v>2673.9299999999971</c:v>
                </c:pt>
                <c:pt idx="45">
                  <c:v>2928.0499999999961</c:v>
                </c:pt>
                <c:pt idx="46">
                  <c:v>3023.329999999999</c:v>
                </c:pt>
                <c:pt idx="47">
                  <c:v>2300.7499999999991</c:v>
                </c:pt>
                <c:pt idx="48">
                  <c:v>2865.4799999999987</c:v>
                </c:pt>
                <c:pt idx="49">
                  <c:v>3219.5999999999976</c:v>
                </c:pt>
                <c:pt idx="50">
                  <c:v>2883.6299999999987</c:v>
                </c:pt>
                <c:pt idx="51">
                  <c:v>2783.5299999999997</c:v>
                </c:pt>
                <c:pt idx="52">
                  <c:v>2928.6999999999989</c:v>
                </c:pt>
                <c:pt idx="53">
                  <c:v>2746.2099999999996</c:v>
                </c:pt>
                <c:pt idx="54">
                  <c:v>2940.6999999999989</c:v>
                </c:pt>
                <c:pt idx="55">
                  <c:v>2823.5499999999988</c:v>
                </c:pt>
                <c:pt idx="56">
                  <c:v>2956.7499999999968</c:v>
                </c:pt>
                <c:pt idx="57">
                  <c:v>3159.9999999999977</c:v>
                </c:pt>
                <c:pt idx="58">
                  <c:v>2311.1000000000004</c:v>
                </c:pt>
                <c:pt idx="59">
                  <c:v>3040.2500000000005</c:v>
                </c:pt>
                <c:pt idx="60">
                  <c:v>2996.0499999999979</c:v>
                </c:pt>
                <c:pt idx="61">
                  <c:v>3155.1499999999983</c:v>
                </c:pt>
                <c:pt idx="62">
                  <c:v>2781.8999999999983</c:v>
                </c:pt>
                <c:pt idx="63">
                  <c:v>2945.3000000000006</c:v>
                </c:pt>
                <c:pt idx="64">
                  <c:v>2618.0499999999993</c:v>
                </c:pt>
                <c:pt idx="65">
                  <c:v>2803.5000000000005</c:v>
                </c:pt>
                <c:pt idx="66">
                  <c:v>3523.2599999999966</c:v>
                </c:pt>
                <c:pt idx="67">
                  <c:v>3459.9699999999975</c:v>
                </c:pt>
                <c:pt idx="68">
                  <c:v>3441.5799999999977</c:v>
                </c:pt>
                <c:pt idx="69">
                  <c:v>3211.649999999996</c:v>
                </c:pt>
                <c:pt idx="70">
                  <c:v>3088.3299999999986</c:v>
                </c:pt>
                <c:pt idx="71">
                  <c:v>3627.6499999999983</c:v>
                </c:pt>
                <c:pt idx="72">
                  <c:v>3312.6599999999967</c:v>
                </c:pt>
                <c:pt idx="73">
                  <c:v>3338.0299999999957</c:v>
                </c:pt>
                <c:pt idx="74">
                  <c:v>3386.1099999999988</c:v>
                </c:pt>
                <c:pt idx="75">
                  <c:v>3181.7499999999991</c:v>
                </c:pt>
                <c:pt idx="76">
                  <c:v>3408.3599999999992</c:v>
                </c:pt>
                <c:pt idx="77">
                  <c:v>3340.0299999999979</c:v>
                </c:pt>
                <c:pt idx="78">
                  <c:v>3262.2799999999979</c:v>
                </c:pt>
                <c:pt idx="79">
                  <c:v>3209.7999999999979</c:v>
                </c:pt>
                <c:pt idx="80">
                  <c:v>3284.1099999999974</c:v>
                </c:pt>
                <c:pt idx="81">
                  <c:v>3361.1299999999987</c:v>
                </c:pt>
                <c:pt idx="82">
                  <c:v>3586.1999999999975</c:v>
                </c:pt>
                <c:pt idx="83">
                  <c:v>3380.949999999998</c:v>
                </c:pt>
                <c:pt idx="84">
                  <c:v>3310.8299999999967</c:v>
                </c:pt>
                <c:pt idx="85">
                  <c:v>3674.3499999999976</c:v>
                </c:pt>
                <c:pt idx="86">
                  <c:v>2792.5499999999979</c:v>
                </c:pt>
                <c:pt idx="87">
                  <c:v>2492.0000000000009</c:v>
                </c:pt>
                <c:pt idx="88">
                  <c:v>2932.819999999997</c:v>
                </c:pt>
                <c:pt idx="89">
                  <c:v>2888.0799999999977</c:v>
                </c:pt>
                <c:pt idx="90">
                  <c:v>3699.8999999999996</c:v>
                </c:pt>
                <c:pt idx="91">
                  <c:v>3575.8499999999985</c:v>
                </c:pt>
                <c:pt idx="92">
                  <c:v>3604.9499999999957</c:v>
                </c:pt>
                <c:pt idx="93">
                  <c:v>3327.2999999999956</c:v>
                </c:pt>
                <c:pt idx="94">
                  <c:v>3552.7</c:v>
                </c:pt>
                <c:pt idx="95">
                  <c:v>3250.1999999999985</c:v>
                </c:pt>
                <c:pt idx="96">
                  <c:v>3682.7999999999979</c:v>
                </c:pt>
                <c:pt idx="97">
                  <c:v>4573.059999999994</c:v>
                </c:pt>
                <c:pt idx="98">
                  <c:v>4088.8799999999956</c:v>
                </c:pt>
                <c:pt idx="99">
                  <c:v>4220.2999999999956</c:v>
                </c:pt>
                <c:pt idx="100">
                  <c:v>3852.8599999999956</c:v>
                </c:pt>
                <c:pt idx="101">
                  <c:v>4040.1799999999967</c:v>
                </c:pt>
                <c:pt idx="102">
                  <c:v>4114.5299999999988</c:v>
                </c:pt>
                <c:pt idx="103">
                  <c:v>4131.2499999999964</c:v>
                </c:pt>
                <c:pt idx="104">
                  <c:v>4121.7899999999954</c:v>
                </c:pt>
                <c:pt idx="105">
                  <c:v>4500.3899999999967</c:v>
                </c:pt>
                <c:pt idx="106">
                  <c:v>4332.0999999999995</c:v>
                </c:pt>
                <c:pt idx="107">
                  <c:v>4354.069999999997</c:v>
                </c:pt>
                <c:pt idx="108">
                  <c:v>4318.3099999999968</c:v>
                </c:pt>
                <c:pt idx="109">
                  <c:v>3924.779999999997</c:v>
                </c:pt>
                <c:pt idx="110">
                  <c:v>4005.3799999999965</c:v>
                </c:pt>
                <c:pt idx="111">
                  <c:v>3961.5799999999967</c:v>
                </c:pt>
                <c:pt idx="112">
                  <c:v>4321.2899999999981</c:v>
                </c:pt>
                <c:pt idx="113">
                  <c:v>4265.4499999999962</c:v>
                </c:pt>
                <c:pt idx="114">
                  <c:v>4254.9999999999955</c:v>
                </c:pt>
                <c:pt idx="115">
                  <c:v>4559.4499999999953</c:v>
                </c:pt>
                <c:pt idx="116">
                  <c:v>4427.0999999999967</c:v>
                </c:pt>
                <c:pt idx="117">
                  <c:v>3373.7999999999975</c:v>
                </c:pt>
                <c:pt idx="118">
                  <c:v>2953.4999999999995</c:v>
                </c:pt>
                <c:pt idx="119">
                  <c:v>3552.3299999999981</c:v>
                </c:pt>
                <c:pt idx="120">
                  <c:v>4731.4499999999989</c:v>
                </c:pt>
                <c:pt idx="121">
                  <c:v>4625.4999999999973</c:v>
                </c:pt>
                <c:pt idx="122">
                  <c:v>4714.599999999994</c:v>
                </c:pt>
                <c:pt idx="123">
                  <c:v>4589.6999999999953</c:v>
                </c:pt>
                <c:pt idx="124">
                  <c:v>4700.9999999999973</c:v>
                </c:pt>
                <c:pt idx="125">
                  <c:v>4205.1499999999978</c:v>
                </c:pt>
                <c:pt idx="126">
                  <c:v>4542.699999999998</c:v>
                </c:pt>
                <c:pt idx="127">
                  <c:v>5604.2099999999946</c:v>
                </c:pt>
                <c:pt idx="128">
                  <c:v>5100.9699999999966</c:v>
                </c:pt>
                <c:pt idx="129">
                  <c:v>5256.329999999999</c:v>
                </c:pt>
                <c:pt idx="130">
                  <c:v>4850.0599999999959</c:v>
                </c:pt>
                <c:pt idx="131">
                  <c:v>4681.1299999999965</c:v>
                </c:pt>
                <c:pt idx="132">
                  <c:v>5511.5299999999988</c:v>
                </c:pt>
                <c:pt idx="133">
                  <c:v>5052.6499999999987</c:v>
                </c:pt>
                <c:pt idx="134">
                  <c:v>5384.9800000000005</c:v>
                </c:pt>
                <c:pt idx="135">
                  <c:v>5542.1299999999974</c:v>
                </c:pt>
                <c:pt idx="136">
                  <c:v>5418.0000000000009</c:v>
                </c:pt>
                <c:pt idx="137">
                  <c:v>5583.4700000000012</c:v>
                </c:pt>
                <c:pt idx="138">
                  <c:v>5657.8800000000047</c:v>
                </c:pt>
                <c:pt idx="139">
                  <c:v>5519.2800000000034</c:v>
                </c:pt>
                <c:pt idx="140">
                  <c:v>5370.8100000000031</c:v>
                </c:pt>
                <c:pt idx="141">
                  <c:v>5541.16</c:v>
                </c:pt>
                <c:pt idx="142">
                  <c:v>5242.9100000000008</c:v>
                </c:pt>
                <c:pt idx="143">
                  <c:v>5391.45</c:v>
                </c:pt>
                <c:pt idx="144">
                  <c:v>5230.8499999999985</c:v>
                </c:pt>
                <c:pt idx="145">
                  <c:v>5300.949999999998</c:v>
                </c:pt>
                <c:pt idx="146">
                  <c:v>5559.1500000000015</c:v>
                </c:pt>
                <c:pt idx="147">
                  <c:v>4338.6499999999978</c:v>
                </c:pt>
                <c:pt idx="148">
                  <c:v>3959.4999999999982</c:v>
                </c:pt>
                <c:pt idx="149">
                  <c:v>4835.4799999999968</c:v>
                </c:pt>
                <c:pt idx="150">
                  <c:v>4684.1299999999928</c:v>
                </c:pt>
                <c:pt idx="151">
                  <c:v>5227.0000000000009</c:v>
                </c:pt>
                <c:pt idx="152">
                  <c:v>5056.4999999999964</c:v>
                </c:pt>
                <c:pt idx="153">
                  <c:v>5166.6499999999942</c:v>
                </c:pt>
                <c:pt idx="154">
                  <c:v>4985.1499999999987</c:v>
                </c:pt>
                <c:pt idx="155">
                  <c:v>4911.1499999999951</c:v>
                </c:pt>
                <c:pt idx="156">
                  <c:v>4598.899999999996</c:v>
                </c:pt>
                <c:pt idx="157">
                  <c:v>4883.0999999999976</c:v>
                </c:pt>
                <c:pt idx="158">
                  <c:v>6151.5899999999965</c:v>
                </c:pt>
                <c:pt idx="159">
                  <c:v>5867.1599999999944</c:v>
                </c:pt>
                <c:pt idx="160">
                  <c:v>5626.7499999999982</c:v>
                </c:pt>
                <c:pt idx="161">
                  <c:v>5418.6099999999979</c:v>
                </c:pt>
                <c:pt idx="162">
                  <c:v>5328.6999999999962</c:v>
                </c:pt>
                <c:pt idx="163">
                  <c:v>6189.3600000000006</c:v>
                </c:pt>
                <c:pt idx="164">
                  <c:v>5836.5199999999977</c:v>
                </c:pt>
                <c:pt idx="165">
                  <c:v>5806.2400000000016</c:v>
                </c:pt>
                <c:pt idx="166">
                  <c:v>6011.4300000000012</c:v>
                </c:pt>
                <c:pt idx="167">
                  <c:v>6117.5999999999995</c:v>
                </c:pt>
                <c:pt idx="168">
                  <c:v>6026.0900000000029</c:v>
                </c:pt>
                <c:pt idx="169">
                  <c:v>6403.9100000000044</c:v>
                </c:pt>
                <c:pt idx="170">
                  <c:v>5494.6599999999989</c:v>
                </c:pt>
                <c:pt idx="171">
                  <c:v>5808.3800000000047</c:v>
                </c:pt>
                <c:pt idx="172">
                  <c:v>5615.0999999999976</c:v>
                </c:pt>
                <c:pt idx="173">
                  <c:v>5781.8599999999969</c:v>
                </c:pt>
                <c:pt idx="174">
                  <c:v>5906.1</c:v>
                </c:pt>
                <c:pt idx="175">
                  <c:v>5754.8499999999958</c:v>
                </c:pt>
                <c:pt idx="176">
                  <c:v>5875.9</c:v>
                </c:pt>
                <c:pt idx="177">
                  <c:v>5975.65</c:v>
                </c:pt>
                <c:pt idx="178">
                  <c:v>4728.8999999999987</c:v>
                </c:pt>
                <c:pt idx="179">
                  <c:v>4450.7499999999982</c:v>
                </c:pt>
                <c:pt idx="180">
                  <c:v>5481.32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635-4959-9290-1AC9F510C67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34409096"/>
        <c:axId val="534410896"/>
      </c:lineChart>
      <c:catAx>
        <c:axId val="5344090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34410896"/>
        <c:crosses val="autoZero"/>
        <c:auto val="1"/>
        <c:lblAlgn val="ctr"/>
        <c:lblOffset val="100"/>
        <c:noMultiLvlLbl val="0"/>
      </c:catAx>
      <c:valAx>
        <c:axId val="53441089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-[$R-1C09]* #\ ##0.00_-;\-[$R-1C09]* #\ ##0.00_-;_-[$R-1C09]* &quot;-&quot;??_-;_-@_-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344090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[bright_learn_analysis.xlsx]monthly sales!PivotTable1</c:name>
    <c:fmtId val="12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cap="all" spc="5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ZA" dirty="0"/>
              <a:t>Total monthly sales per store</a:t>
            </a:r>
          </a:p>
        </c:rich>
      </c:tx>
      <c:layout>
        <c:manualLayout>
          <c:xMode val="edge"/>
          <c:yMode val="edge"/>
          <c:x val="7.036452681877252E-3"/>
          <c:y val="2.0860781550002061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cap="all" spc="5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gradFill flip="none" rotWithShape="1">
            <a:gsLst>
              <a:gs pos="0">
                <a:schemeClr val="accent1"/>
              </a:gs>
              <a:gs pos="75000">
                <a:schemeClr val="accent1">
                  <a:lumMod val="60000"/>
                  <a:lumOff val="40000"/>
                </a:schemeClr>
              </a:gs>
              <a:gs pos="51000">
                <a:schemeClr val="accent1">
                  <a:alpha val="75000"/>
                </a:schemeClr>
              </a:gs>
              <a:gs pos="100000">
                <a:schemeClr val="accent1">
                  <a:lumMod val="20000"/>
                  <a:lumOff val="80000"/>
                  <a:alpha val="15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circle"/>
          <c:size val="6"/>
          <c:spPr>
            <a:gradFill flip="none" rotWithShape="1">
              <a:gsLst>
                <a:gs pos="0">
                  <a:schemeClr val="accent1"/>
                </a:gs>
                <a:gs pos="75000">
                  <a:schemeClr val="accent1">
                    <a:lumMod val="60000"/>
                    <a:lumOff val="40000"/>
                  </a:schemeClr>
                </a:gs>
                <a:gs pos="51000">
                  <a:schemeClr val="accent1">
                    <a:alpha val="75000"/>
                  </a:schemeClr>
                </a:gs>
                <a:gs pos="100000">
                  <a:schemeClr val="accent1">
                    <a:lumMod val="20000"/>
                    <a:lumOff val="80000"/>
                    <a:alpha val="15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1">
                  <a:shade val="95000"/>
                </a:schemeClr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flip="none" rotWithShape="1">
            <a:gsLst>
              <a:gs pos="0">
                <a:schemeClr val="accent1"/>
              </a:gs>
              <a:gs pos="75000">
                <a:schemeClr val="accent1">
                  <a:lumMod val="60000"/>
                  <a:lumOff val="40000"/>
                </a:schemeClr>
              </a:gs>
              <a:gs pos="51000">
                <a:schemeClr val="accent1">
                  <a:alpha val="75000"/>
                </a:schemeClr>
              </a:gs>
              <a:gs pos="100000">
                <a:schemeClr val="accent1">
                  <a:lumMod val="20000"/>
                  <a:lumOff val="80000"/>
                  <a:alpha val="15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flip="none" rotWithShape="1">
            <a:gsLst>
              <a:gs pos="0">
                <a:schemeClr val="accent1"/>
              </a:gs>
              <a:gs pos="75000">
                <a:schemeClr val="accent1">
                  <a:lumMod val="60000"/>
                  <a:lumOff val="40000"/>
                </a:schemeClr>
              </a:gs>
              <a:gs pos="51000">
                <a:schemeClr val="accent1">
                  <a:alpha val="75000"/>
                </a:schemeClr>
              </a:gs>
              <a:gs pos="100000">
                <a:schemeClr val="accent1">
                  <a:lumMod val="20000"/>
                  <a:lumOff val="80000"/>
                  <a:alpha val="15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6.7396767859814702E-2"/>
          <c:y val="0.13171497470671301"/>
          <c:w val="0.87648860474522661"/>
          <c:h val="0.7869769261687662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'monthly sales'!$B$3</c:f>
              <c:strCache>
                <c:ptCount val="1"/>
                <c:pt idx="0">
                  <c:v>Total</c:v>
                </c:pt>
              </c:strCache>
            </c:strRef>
          </c:tx>
          <c:spPr>
            <a:gradFill flip="none" rotWithShape="1">
              <a:gsLst>
                <a:gs pos="0">
                  <a:schemeClr val="accent1"/>
                </a:gs>
                <a:gs pos="75000">
                  <a:schemeClr val="accent1">
                    <a:lumMod val="60000"/>
                    <a:lumOff val="40000"/>
                  </a:schemeClr>
                </a:gs>
                <a:gs pos="51000">
                  <a:schemeClr val="accent1">
                    <a:alpha val="75000"/>
                  </a:schemeClr>
                </a:gs>
                <a:gs pos="100000">
                  <a:schemeClr val="accent1">
                    <a:lumMod val="20000"/>
                    <a:lumOff val="80000"/>
                    <a:alpha val="15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cat>
            <c:multiLvlStrRef>
              <c:f>'monthly sales'!$A$4:$A$25</c:f>
              <c:multiLvlStrCache>
                <c:ptCount val="18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Jan</c:v>
                  </c:pt>
                  <c:pt idx="7">
                    <c:v>Feb</c:v>
                  </c:pt>
                  <c:pt idx="8">
                    <c:v>Mar</c:v>
                  </c:pt>
                  <c:pt idx="9">
                    <c:v>Apr</c:v>
                  </c:pt>
                  <c:pt idx="10">
                    <c:v>May</c:v>
                  </c:pt>
                  <c:pt idx="11">
                    <c:v>Jun</c:v>
                  </c:pt>
                  <c:pt idx="12">
                    <c:v>Jan</c:v>
                  </c:pt>
                  <c:pt idx="13">
                    <c:v>Feb</c:v>
                  </c:pt>
                  <c:pt idx="14">
                    <c:v>Mar</c:v>
                  </c:pt>
                  <c:pt idx="15">
                    <c:v>Apr</c:v>
                  </c:pt>
                  <c:pt idx="16">
                    <c:v>May</c:v>
                  </c:pt>
                  <c:pt idx="17">
                    <c:v>Jun</c:v>
                  </c:pt>
                </c:lvl>
                <c:lvl>
                  <c:pt idx="0">
                    <c:v>Astoria</c:v>
                  </c:pt>
                  <c:pt idx="6">
                    <c:v>Hell's Kitchen</c:v>
                  </c:pt>
                  <c:pt idx="12">
                    <c:v>Lower Manhattan</c:v>
                  </c:pt>
                </c:lvl>
              </c:multiLvlStrCache>
            </c:multiLvlStrRef>
          </c:cat>
          <c:val>
            <c:numRef>
              <c:f>'monthly sales'!$B$4:$B$25</c:f>
              <c:numCache>
                <c:formatCode>_-[$R-1C09]* #\ ##0.00_-;\-[$R-1C09]* #\ ##0.00_-;_-[$R-1C09]* "-"??_-;_-@_-</c:formatCode>
                <c:ptCount val="18"/>
                <c:pt idx="0">
                  <c:v>27313.660000000076</c:v>
                </c:pt>
                <c:pt idx="1">
                  <c:v>25105.340000000077</c:v>
                </c:pt>
                <c:pt idx="2">
                  <c:v>32835.430000000029</c:v>
                </c:pt>
                <c:pt idx="3">
                  <c:v>39477.609999999833</c:v>
                </c:pt>
                <c:pt idx="4">
                  <c:v>52428.759999999318</c:v>
                </c:pt>
                <c:pt idx="5">
                  <c:v>55083.109999999266</c:v>
                </c:pt>
                <c:pt idx="6">
                  <c:v>27820.649999999969</c:v>
                </c:pt>
                <c:pt idx="7">
                  <c:v>25719.799999999963</c:v>
                </c:pt>
                <c:pt idx="8">
                  <c:v>33110.569999999854</c:v>
                </c:pt>
                <c:pt idx="9">
                  <c:v>40304.139999999745</c:v>
                </c:pt>
                <c:pt idx="10">
                  <c:v>52598.929999999375</c:v>
                </c:pt>
                <c:pt idx="11">
                  <c:v>56957.079999999347</c:v>
                </c:pt>
                <c:pt idx="12">
                  <c:v>26543.429999999942</c:v>
                </c:pt>
                <c:pt idx="13">
                  <c:v>25320.049999999905</c:v>
                </c:pt>
                <c:pt idx="14">
                  <c:v>32888.679999999811</c:v>
                </c:pt>
                <c:pt idx="15">
                  <c:v>39159.329999999653</c:v>
                </c:pt>
                <c:pt idx="16">
                  <c:v>51700.069999999592</c:v>
                </c:pt>
                <c:pt idx="17">
                  <c:v>54445.689999999653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59E-42BB-BAAA-AD5DAB65D45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55"/>
        <c:overlap val="-70"/>
        <c:axId val="534422776"/>
        <c:axId val="534414856"/>
      </c:barChart>
      <c:catAx>
        <c:axId val="5344227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34414856"/>
        <c:crosses val="autoZero"/>
        <c:auto val="1"/>
        <c:lblAlgn val="ctr"/>
        <c:lblOffset val="100"/>
        <c:noMultiLvlLbl val="0"/>
      </c:catAx>
      <c:valAx>
        <c:axId val="534414856"/>
        <c:scaling>
          <c:orientation val="minMax"/>
        </c:scaling>
        <c:delete val="0"/>
        <c:axPos val="l"/>
        <c:majorGridlines>
          <c:spPr>
            <a:ln w="9525" cap="flat" cmpd="sng" algn="ctr">
              <a:gradFill>
                <a:gsLst>
                  <a:gs pos="100000">
                    <a:schemeClr val="tx1">
                      <a:lumMod val="5000"/>
                      <a:lumOff val="95000"/>
                    </a:schemeClr>
                  </a:gs>
                  <a:gs pos="0">
                    <a:schemeClr val="tx1">
                      <a:lumMod val="25000"/>
                      <a:lumOff val="75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_-[$R-1C09]* #\ ##0.00_-;\-[$R-1C09]* #\ ##0.00_-;_-[$R-1C09]* &quot;-&quot;??_-;_-@_-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344227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[bright_coffee_data_analysis.xlsx]Sheet2!PivotTable2</c:name>
    <c:fmtId val="6"/>
  </c:pivotSource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cap="none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noFill/>
          <a:ln w="22225" cap="rnd" cmpd="sng" algn="ctr">
            <a:solidFill>
              <a:schemeClr val="accent1"/>
            </a:solidFill>
            <a:miter lim="800000"/>
          </a:ln>
          <a:effectLst>
            <a:glow rad="139700">
              <a:schemeClr val="accent1">
                <a:satMod val="175000"/>
                <a:alpha val="14000"/>
              </a:schemeClr>
            </a:glow>
          </a:effectLst>
        </c:spPr>
        <c:marker>
          <c:symbol val="circle"/>
          <c:size val="4"/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>
              <a:glow rad="63500">
                <a:schemeClr val="accent1">
                  <a:satMod val="175000"/>
                  <a:alpha val="25000"/>
                </a:schemeClr>
              </a:glo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noFill/>
          <a:ln w="22225" cap="rnd" cmpd="sng" algn="ctr">
            <a:solidFill>
              <a:schemeClr val="accent1"/>
            </a:solidFill>
            <a:miter lim="800000"/>
          </a:ln>
          <a:effectLst>
            <a:glow rad="139700">
              <a:schemeClr val="accent1">
                <a:satMod val="175000"/>
                <a:alpha val="14000"/>
              </a:schemeClr>
            </a:glow>
          </a:effectLst>
        </c:spPr>
        <c:marker>
          <c:symbol val="circle"/>
          <c:size val="4"/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>
              <a:glow rad="63500">
                <a:schemeClr val="accent1">
                  <a:satMod val="175000"/>
                  <a:alpha val="25000"/>
                </a:schemeClr>
              </a:glo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noFill/>
          <a:ln w="22225" cap="rnd" cmpd="sng" algn="ctr">
            <a:solidFill>
              <a:schemeClr val="accent1"/>
            </a:solidFill>
            <a:miter lim="800000"/>
          </a:ln>
          <a:effectLst>
            <a:glow rad="139700">
              <a:schemeClr val="accent1">
                <a:satMod val="175000"/>
                <a:alpha val="14000"/>
              </a:schemeClr>
            </a:glow>
          </a:effectLst>
        </c:spPr>
        <c:marker>
          <c:symbol val="circle"/>
          <c:size val="4"/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>
              <a:glow rad="63500">
                <a:schemeClr val="accent1">
                  <a:satMod val="175000"/>
                  <a:alpha val="25000"/>
                </a:schemeClr>
              </a:glo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16486976221468252"/>
          <c:y val="0.13838649861600064"/>
          <c:w val="0.71652102938352213"/>
          <c:h val="0.77137554904613037"/>
        </c:manualLayout>
      </c:layout>
      <c:lineChart>
        <c:grouping val="standard"/>
        <c:varyColors val="0"/>
        <c:ser>
          <c:idx val="0"/>
          <c:order val="0"/>
          <c:tx>
            <c:strRef>
              <c:f>Sheet2!$B$3</c:f>
              <c:strCache>
                <c:ptCount val="1"/>
                <c:pt idx="0">
                  <c:v>Total</c:v>
                </c:pt>
              </c:strCache>
            </c:strRef>
          </c:tx>
          <c:spPr>
            <a:ln w="22225" cap="rnd">
              <a:solidFill>
                <a:schemeClr val="accent1"/>
              </a:solidFill>
            </a:ln>
            <a:effectLst>
              <a:glow rad="139700">
                <a:schemeClr val="accent1">
                  <a:satMod val="175000"/>
                  <a:alpha val="14000"/>
                </a:schemeClr>
              </a:glow>
            </a:effectLst>
          </c:spPr>
          <c:marker>
            <c:symbol val="circle"/>
            <c:size val="4"/>
            <c:spPr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ffectLst>
                <a:glow rad="63500">
                  <a:schemeClr val="accent1">
                    <a:satMod val="175000"/>
                    <a:alpha val="25000"/>
                  </a:schemeClr>
                </a:glow>
              </a:effectLst>
            </c:spPr>
          </c:marker>
          <c:cat>
            <c:strRef>
              <c:f>Sheet2!$A$4:$A$35</c:f>
              <c:strCache>
                <c:ptCount val="31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</c:strCache>
            </c:strRef>
          </c:cat>
          <c:val>
            <c:numRef>
              <c:f>Sheet2!$B$4:$B$35</c:f>
              <c:numCache>
                <c:formatCode>_-[$R-1C09]* #\ ##0.00_-;\-[$R-1C09]* #\ ##0.00_-;_-[$R-1C09]* "-"??_-;_-@_-</c:formatCode>
                <c:ptCount val="31"/>
                <c:pt idx="0">
                  <c:v>21673.100000000068</c:v>
                </c:pt>
                <c:pt idx="1">
                  <c:v>21164.150000000074</c:v>
                </c:pt>
                <c:pt idx="2">
                  <c:v>21797.800000000083</c:v>
                </c:pt>
                <c:pt idx="3">
                  <c:v>20455.850000000082</c:v>
                </c:pt>
                <c:pt idx="4">
                  <c:v>20833.70000000007</c:v>
                </c:pt>
                <c:pt idx="5">
                  <c:v>19149.550000000076</c:v>
                </c:pt>
                <c:pt idx="6">
                  <c:v>20966.300000000014</c:v>
                </c:pt>
                <c:pt idx="7">
                  <c:v>25253.080000000034</c:v>
                </c:pt>
                <c:pt idx="8">
                  <c:v>23804.220000000074</c:v>
                </c:pt>
                <c:pt idx="9">
                  <c:v>24132.209999999995</c:v>
                </c:pt>
                <c:pt idx="10">
                  <c:v>22415.670000000009</c:v>
                </c:pt>
                <c:pt idx="11">
                  <c:v>22360.040000000034</c:v>
                </c:pt>
                <c:pt idx="12">
                  <c:v>25322.149999999965</c:v>
                </c:pt>
                <c:pt idx="13">
                  <c:v>23689.519999999964</c:v>
                </c:pt>
                <c:pt idx="14">
                  <c:v>24746.799999999937</c:v>
                </c:pt>
                <c:pt idx="15">
                  <c:v>25292.549999999956</c:v>
                </c:pt>
                <c:pt idx="16">
                  <c:v>24635.999999999942</c:v>
                </c:pt>
                <c:pt idx="17">
                  <c:v>24973.429999999989</c:v>
                </c:pt>
                <c:pt idx="18">
                  <c:v>25853.409999999894</c:v>
                </c:pt>
                <c:pt idx="19">
                  <c:v>23688.359999999931</c:v>
                </c:pt>
                <c:pt idx="20">
                  <c:v>24260.749999999909</c:v>
                </c:pt>
                <c:pt idx="21">
                  <c:v>23697.979999999978</c:v>
                </c:pt>
                <c:pt idx="22">
                  <c:v>24306.550000000003</c:v>
                </c:pt>
                <c:pt idx="23">
                  <c:v>24958.850000000013</c:v>
                </c:pt>
                <c:pt idx="24">
                  <c:v>24291.750000000033</c:v>
                </c:pt>
                <c:pt idx="25">
                  <c:v>24866.910000000025</c:v>
                </c:pt>
                <c:pt idx="26">
                  <c:v>25538.349999999922</c:v>
                </c:pt>
                <c:pt idx="27">
                  <c:v>19582.100000000035</c:v>
                </c:pt>
                <c:pt idx="28">
                  <c:v>15916.500000000051</c:v>
                </c:pt>
                <c:pt idx="29">
                  <c:v>19278.35999999999</c:v>
                </c:pt>
                <c:pt idx="30">
                  <c:v>9906.3400000000256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065-498D-A990-0CE3B6CEDBE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994314672"/>
        <c:axId val="994316472"/>
      </c:lineChart>
      <c:catAx>
        <c:axId val="994314672"/>
        <c:scaling>
          <c:orientation val="minMax"/>
        </c:scaling>
        <c:delete val="0"/>
        <c:axPos val="b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75000"/>
                      <a:lumOff val="25000"/>
                    </a:schemeClr>
                  </a:gs>
                  <a:gs pos="0">
                    <a:schemeClr val="dk1">
                      <a:lumMod val="65000"/>
                      <a:lumOff val="35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94316472"/>
        <c:crosses val="autoZero"/>
        <c:auto val="1"/>
        <c:lblAlgn val="ctr"/>
        <c:lblOffset val="100"/>
        <c:noMultiLvlLbl val="0"/>
      </c:catAx>
      <c:valAx>
        <c:axId val="994316472"/>
        <c:scaling>
          <c:orientation val="minMax"/>
        </c:scaling>
        <c:delete val="0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75000"/>
                      <a:lumOff val="25000"/>
                    </a:schemeClr>
                  </a:gs>
                  <a:gs pos="0">
                    <a:schemeClr val="dk1">
                      <a:lumMod val="65000"/>
                      <a:lumOff val="35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_-[$R-1C09]* #\ ##0.00_-;\-[$R-1C09]* #\ ##0.00_-;_-[$R-1C09]* &quot;-&quot;??_-;_-@_-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943146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7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dk1">
        <a:lumMod val="75000"/>
        <a:lumOff val="25000"/>
      </a:schemeClr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[bright_coffee_data_analysis.xlsx]Sheet8!PivotTable9</c:name>
    <c:fmtId val="3"/>
  </c:pivotSource>
  <c:chart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Sheet8!$B$3</c:f>
              <c:strCache>
                <c:ptCount val="1"/>
                <c:pt idx="0">
                  <c:v>Sum of Revenue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Sheet8!$A$4:$A$19</c:f>
              <c:strCache>
                <c:ptCount val="15"/>
                <c:pt idx="0">
                  <c:v>06</c:v>
                </c:pt>
                <c:pt idx="1">
                  <c:v>07</c:v>
                </c:pt>
                <c:pt idx="2">
                  <c:v>08</c:v>
                </c:pt>
                <c:pt idx="3">
                  <c:v>09</c:v>
                </c:pt>
                <c:pt idx="4">
                  <c:v>10</c:v>
                </c:pt>
                <c:pt idx="5">
                  <c:v>11</c:v>
                </c:pt>
                <c:pt idx="6">
                  <c:v>12</c:v>
                </c:pt>
                <c:pt idx="7">
                  <c:v>13</c:v>
                </c:pt>
                <c:pt idx="8">
                  <c:v>14</c:v>
                </c:pt>
                <c:pt idx="9">
                  <c:v>15</c:v>
                </c:pt>
                <c:pt idx="10">
                  <c:v>16</c:v>
                </c:pt>
                <c:pt idx="11">
                  <c:v>17</c:v>
                </c:pt>
                <c:pt idx="12">
                  <c:v>18</c:v>
                </c:pt>
                <c:pt idx="13">
                  <c:v>19</c:v>
                </c:pt>
                <c:pt idx="14">
                  <c:v>20</c:v>
                </c:pt>
              </c:strCache>
            </c:strRef>
          </c:cat>
          <c:val>
            <c:numRef>
              <c:f>Sheet8!$B$4:$B$19</c:f>
              <c:numCache>
                <c:formatCode>General</c:formatCode>
                <c:ptCount val="15"/>
                <c:pt idx="0">
                  <c:v>21900.269999999964</c:v>
                </c:pt>
                <c:pt idx="1">
                  <c:v>63526.469999999463</c:v>
                </c:pt>
                <c:pt idx="2">
                  <c:v>82699.87</c:v>
                </c:pt>
                <c:pt idx="3">
                  <c:v>85169.529999999941</c:v>
                </c:pt>
                <c:pt idx="4">
                  <c:v>88673.390000000436</c:v>
                </c:pt>
                <c:pt idx="5">
                  <c:v>46319.139999999737</c:v>
                </c:pt>
                <c:pt idx="6">
                  <c:v>40192.789999999863</c:v>
                </c:pt>
                <c:pt idx="7">
                  <c:v>40367.449999999881</c:v>
                </c:pt>
                <c:pt idx="8">
                  <c:v>41304.739999999809</c:v>
                </c:pt>
                <c:pt idx="9">
                  <c:v>41733.099999999788</c:v>
                </c:pt>
                <c:pt idx="10">
                  <c:v>41122.749999999767</c:v>
                </c:pt>
                <c:pt idx="11">
                  <c:v>40134.309999999874</c:v>
                </c:pt>
                <c:pt idx="12">
                  <c:v>34286.200000000004</c:v>
                </c:pt>
                <c:pt idx="13">
                  <c:v>28446.680000000051</c:v>
                </c:pt>
                <c:pt idx="14">
                  <c:v>2935.6399999999971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B82-49D8-85AC-B10452055157}"/>
            </c:ext>
          </c:extLst>
        </c:ser>
        <c:ser>
          <c:idx val="1"/>
          <c:order val="1"/>
          <c:tx>
            <c:strRef>
              <c:f>Sheet8!$C$3</c:f>
              <c:strCache>
                <c:ptCount val="1"/>
                <c:pt idx="0">
                  <c:v>Sum of store_id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Sheet8!$A$4:$A$19</c:f>
              <c:strCache>
                <c:ptCount val="15"/>
                <c:pt idx="0">
                  <c:v>06</c:v>
                </c:pt>
                <c:pt idx="1">
                  <c:v>07</c:v>
                </c:pt>
                <c:pt idx="2">
                  <c:v>08</c:v>
                </c:pt>
                <c:pt idx="3">
                  <c:v>09</c:v>
                </c:pt>
                <c:pt idx="4">
                  <c:v>10</c:v>
                </c:pt>
                <c:pt idx="5">
                  <c:v>11</c:v>
                </c:pt>
                <c:pt idx="6">
                  <c:v>12</c:v>
                </c:pt>
                <c:pt idx="7">
                  <c:v>13</c:v>
                </c:pt>
                <c:pt idx="8">
                  <c:v>14</c:v>
                </c:pt>
                <c:pt idx="9">
                  <c:v>15</c:v>
                </c:pt>
                <c:pt idx="10">
                  <c:v>16</c:v>
                </c:pt>
                <c:pt idx="11">
                  <c:v>17</c:v>
                </c:pt>
                <c:pt idx="12">
                  <c:v>18</c:v>
                </c:pt>
                <c:pt idx="13">
                  <c:v>19</c:v>
                </c:pt>
                <c:pt idx="14">
                  <c:v>20</c:v>
                </c:pt>
              </c:strCache>
            </c:strRef>
          </c:cat>
          <c:val>
            <c:numRef>
              <c:f>Sheet8!$C$4:$C$19</c:f>
              <c:numCache>
                <c:formatCode>General</c:formatCode>
                <c:ptCount val="15"/>
                <c:pt idx="0">
                  <c:v>27998</c:v>
                </c:pt>
                <c:pt idx="1">
                  <c:v>69143</c:v>
                </c:pt>
                <c:pt idx="2">
                  <c:v>99065</c:v>
                </c:pt>
                <c:pt idx="3">
                  <c:v>98955</c:v>
                </c:pt>
                <c:pt idx="4">
                  <c:v>103014</c:v>
                </c:pt>
                <c:pt idx="5">
                  <c:v>52798</c:v>
                </c:pt>
                <c:pt idx="6">
                  <c:v>43990</c:v>
                </c:pt>
                <c:pt idx="7">
                  <c:v>44533</c:v>
                </c:pt>
                <c:pt idx="8">
                  <c:v>46289</c:v>
                </c:pt>
                <c:pt idx="9">
                  <c:v>45564</c:v>
                </c:pt>
                <c:pt idx="10">
                  <c:v>46340</c:v>
                </c:pt>
                <c:pt idx="11">
                  <c:v>45375</c:v>
                </c:pt>
                <c:pt idx="12">
                  <c:v>38388</c:v>
                </c:pt>
                <c:pt idx="13">
                  <c:v>30536</c:v>
                </c:pt>
                <c:pt idx="14">
                  <c:v>4599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B82-49D8-85AC-B1045205515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400881024"/>
        <c:axId val="400876344"/>
      </c:barChart>
      <c:catAx>
        <c:axId val="4008810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00876344"/>
        <c:crosses val="autoZero"/>
        <c:auto val="1"/>
        <c:lblAlgn val="ctr"/>
        <c:lblOffset val="100"/>
        <c:noMultiLvlLbl val="0"/>
      </c:catAx>
      <c:valAx>
        <c:axId val="4008763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008810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[bright_coffee_data_analysis.xlsx]Sheet9!PivotTable10</c:name>
    <c:fmtId val="1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 baseline="0" dirty="0"/>
              <a:t>An indication to us reflecting when most transaction took place during the week</a:t>
            </a:r>
            <a:r>
              <a:rPr lang="en-US" dirty="0"/>
              <a:t> </a:t>
            </a:r>
          </a:p>
        </c:rich>
      </c:tx>
      <c:layout>
        <c:manualLayout>
          <c:xMode val="edge"/>
          <c:yMode val="edge"/>
          <c:x val="0.13528124999999999"/>
          <c:y val="1.269841481455065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>
            <a:solidFill>
              <a:schemeClr val="accent1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1080000"/>
              </a:lightRig>
            </a:scene3d>
            <a:sp3d>
              <a:bevelT w="38100" h="12700" prst="softRound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>
            <a:solidFill>
              <a:schemeClr val="accent1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1080000"/>
              </a:lightRig>
            </a:scene3d>
            <a:sp3d>
              <a:bevelT w="38100" h="12700" prst="softRound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>
            <a:solidFill>
              <a:schemeClr val="accent1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1080000"/>
              </a:lightRig>
            </a:scene3d>
            <a:sp3d>
              <a:bevelT w="38100" h="12700" prst="softRound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Sheet9!$B$3</c:f>
              <c:strCache>
                <c:ptCount val="1"/>
                <c:pt idx="0">
                  <c:v>Total</c:v>
                </c:pt>
              </c:strCache>
            </c:strRef>
          </c:tx>
          <c:spPr>
            <a:ln w="34925" cap="rnd">
              <a:solidFill>
                <a:schemeClr val="accent1"/>
              </a:solidFill>
              <a:round/>
            </a:ln>
            <a:effectLst>
              <a:outerShdw blurRad="50800" dist="50800" dir="5400000" sx="96000" sy="96000" rotWithShape="0">
                <a:srgbClr val="000000">
                  <a:alpha val="48000"/>
                </a:srgbClr>
              </a:outerShdw>
            </a:effectLst>
          </c:spPr>
          <c:marker>
            <c:symbol val="circle"/>
            <c:size val="6"/>
            <c:spPr>
              <a:gradFill rotWithShape="1">
                <a:gsLst>
                  <a:gs pos="0">
                    <a:schemeClr val="accent1">
                      <a:tint val="98000"/>
                      <a:satMod val="110000"/>
                      <a:lumMod val="104000"/>
                    </a:schemeClr>
                  </a:gs>
                  <a:gs pos="69000">
                    <a:schemeClr val="accent1">
                      <a:shade val="88000"/>
                      <a:satMod val="130000"/>
                      <a:lumMod val="92000"/>
                    </a:schemeClr>
                  </a:gs>
                  <a:gs pos="100000">
                    <a:schemeClr val="accent1">
                      <a:shade val="78000"/>
                      <a:satMod val="130000"/>
                      <a:lumMod val="92000"/>
                    </a:schemeClr>
                  </a:gs>
                </a:gsLst>
                <a:lin ang="5400000" scaled="0"/>
              </a:gradFill>
              <a:ln w="9525">
                <a:solidFill>
                  <a:schemeClr val="accent1"/>
                </a:solidFill>
                <a:round/>
              </a:ln>
              <a:effectLst>
                <a:outerShdw blurRad="50800" dist="50800" dir="5400000" sx="96000" sy="96000" rotWithShape="0">
                  <a:srgbClr val="000000">
                    <a:alpha val="48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1080000"/>
                </a:lightRig>
              </a:scene3d>
              <a:sp3d>
                <a:bevelT w="38100" h="12700" prst="softRound"/>
              </a:sp3d>
            </c:spPr>
          </c:marker>
          <c:cat>
            <c:multiLvlStrRef>
              <c:f>Sheet9!$A$4:$A$44</c:f>
              <c:multiLvlStrCache>
                <c:ptCount val="35"/>
                <c:lvl>
                  <c:pt idx="0">
                    <c:v>Sun</c:v>
                  </c:pt>
                  <c:pt idx="1">
                    <c:v>Mon</c:v>
                  </c:pt>
                  <c:pt idx="2">
                    <c:v>Tue</c:v>
                  </c:pt>
                  <c:pt idx="3">
                    <c:v>Wed</c:v>
                  </c:pt>
                  <c:pt idx="4">
                    <c:v>Thu</c:v>
                  </c:pt>
                  <c:pt idx="5">
                    <c:v>Fri</c:v>
                  </c:pt>
                  <c:pt idx="6">
                    <c:v>Sat</c:v>
                  </c:pt>
                  <c:pt idx="7">
                    <c:v>Sun</c:v>
                  </c:pt>
                  <c:pt idx="8">
                    <c:v>Mon</c:v>
                  </c:pt>
                  <c:pt idx="9">
                    <c:v>Tue</c:v>
                  </c:pt>
                  <c:pt idx="10">
                    <c:v>Wed</c:v>
                  </c:pt>
                  <c:pt idx="11">
                    <c:v>Thu</c:v>
                  </c:pt>
                  <c:pt idx="12">
                    <c:v>Fri</c:v>
                  </c:pt>
                  <c:pt idx="13">
                    <c:v>Sat</c:v>
                  </c:pt>
                  <c:pt idx="14">
                    <c:v>Sun</c:v>
                  </c:pt>
                  <c:pt idx="15">
                    <c:v>Mon</c:v>
                  </c:pt>
                  <c:pt idx="16">
                    <c:v>Tue</c:v>
                  </c:pt>
                  <c:pt idx="17">
                    <c:v>Wed</c:v>
                  </c:pt>
                  <c:pt idx="18">
                    <c:v>Thu</c:v>
                  </c:pt>
                  <c:pt idx="19">
                    <c:v>Fri</c:v>
                  </c:pt>
                  <c:pt idx="20">
                    <c:v>Sat</c:v>
                  </c:pt>
                  <c:pt idx="21">
                    <c:v>Sun</c:v>
                  </c:pt>
                  <c:pt idx="22">
                    <c:v>Mon</c:v>
                  </c:pt>
                  <c:pt idx="23">
                    <c:v>Tue</c:v>
                  </c:pt>
                  <c:pt idx="24">
                    <c:v>Wed</c:v>
                  </c:pt>
                  <c:pt idx="25">
                    <c:v>Thu</c:v>
                  </c:pt>
                  <c:pt idx="26">
                    <c:v>Fri</c:v>
                  </c:pt>
                  <c:pt idx="27">
                    <c:v>Sat</c:v>
                  </c:pt>
                  <c:pt idx="28">
                    <c:v>Sun</c:v>
                  </c:pt>
                  <c:pt idx="29">
                    <c:v>Mon</c:v>
                  </c:pt>
                  <c:pt idx="30">
                    <c:v>Tue</c:v>
                  </c:pt>
                  <c:pt idx="31">
                    <c:v>Wed</c:v>
                  </c:pt>
                  <c:pt idx="32">
                    <c:v>Thu</c:v>
                  </c:pt>
                  <c:pt idx="33">
                    <c:v>Fri</c:v>
                  </c:pt>
                  <c:pt idx="34">
                    <c:v>Sat</c:v>
                  </c:pt>
                </c:lvl>
                <c:lvl>
                  <c:pt idx="0">
                    <c:v>04. Rush hour</c:v>
                  </c:pt>
                  <c:pt idx="7">
                    <c:v>05. Night</c:v>
                  </c:pt>
                  <c:pt idx="14">
                    <c:v>1. Rush hour</c:v>
                  </c:pt>
                  <c:pt idx="21">
                    <c:v>2.Mid_morning</c:v>
                  </c:pt>
                  <c:pt idx="28">
                    <c:v>3. Afternoon</c:v>
                  </c:pt>
                </c:lvl>
              </c:multiLvlStrCache>
            </c:multiLvlStrRef>
          </c:cat>
          <c:val>
            <c:numRef>
              <c:f>Sheet9!$B$4:$B$44</c:f>
              <c:numCache>
                <c:formatCode>_-[$R-1C09]* #\ ##0.00_-;\-[$R-1C09]* #\ ##0.00_-;_-[$R-1C09]* "-"??_-;_-@_-</c:formatCode>
                <c:ptCount val="35"/>
                <c:pt idx="0">
                  <c:v>16309.330000000045</c:v>
                </c:pt>
                <c:pt idx="1">
                  <c:v>17073.500000000058</c:v>
                </c:pt>
                <c:pt idx="2">
                  <c:v>15637.990000000043</c:v>
                </c:pt>
                <c:pt idx="3">
                  <c:v>16465.660000000058</c:v>
                </c:pt>
                <c:pt idx="4">
                  <c:v>17662.040000000059</c:v>
                </c:pt>
                <c:pt idx="5">
                  <c:v>16481.910000000051</c:v>
                </c:pt>
                <c:pt idx="6">
                  <c:v>15912.830000000038</c:v>
                </c:pt>
                <c:pt idx="7">
                  <c:v>4390.5899999999947</c:v>
                </c:pt>
                <c:pt idx="8">
                  <c:v>4345.6199999999963</c:v>
                </c:pt>
                <c:pt idx="9">
                  <c:v>4652.3399999999992</c:v>
                </c:pt>
                <c:pt idx="10">
                  <c:v>4259.3799999999947</c:v>
                </c:pt>
                <c:pt idx="11">
                  <c:v>4809.0699999999961</c:v>
                </c:pt>
                <c:pt idx="12">
                  <c:v>4515.7299999999987</c:v>
                </c:pt>
                <c:pt idx="13">
                  <c:v>4409.5899999999965</c:v>
                </c:pt>
                <c:pt idx="14">
                  <c:v>23828.359999999997</c:v>
                </c:pt>
                <c:pt idx="15">
                  <c:v>24219.790000000005</c:v>
                </c:pt>
                <c:pt idx="16">
                  <c:v>24112.14999999994</c:v>
                </c:pt>
                <c:pt idx="17">
                  <c:v>24293.539999999954</c:v>
                </c:pt>
                <c:pt idx="18">
                  <c:v>24094.619999999995</c:v>
                </c:pt>
                <c:pt idx="19">
                  <c:v>24518.42</c:v>
                </c:pt>
                <c:pt idx="20">
                  <c:v>23059.729999999952</c:v>
                </c:pt>
                <c:pt idx="21">
                  <c:v>30890.489999999954</c:v>
                </c:pt>
                <c:pt idx="22">
                  <c:v>31504.669999999951</c:v>
                </c:pt>
                <c:pt idx="23">
                  <c:v>32963.559999999961</c:v>
                </c:pt>
                <c:pt idx="24">
                  <c:v>31684.729999999898</c:v>
                </c:pt>
                <c:pt idx="25">
                  <c:v>29953.370000000006</c:v>
                </c:pt>
                <c:pt idx="26">
                  <c:v>32733.499999999898</c:v>
                </c:pt>
                <c:pt idx="27">
                  <c:v>30431.739999999922</c:v>
                </c:pt>
                <c:pt idx="28">
                  <c:v>22911.540000000063</c:v>
                </c:pt>
                <c:pt idx="29">
                  <c:v>24533.700000000044</c:v>
                </c:pt>
                <c:pt idx="30">
                  <c:v>22089.900000000009</c:v>
                </c:pt>
                <c:pt idx="31">
                  <c:v>23610.23</c:v>
                </c:pt>
                <c:pt idx="32">
                  <c:v>24248.680000000066</c:v>
                </c:pt>
                <c:pt idx="33">
                  <c:v>23123.440000000035</c:v>
                </c:pt>
                <c:pt idx="34">
                  <c:v>23080.590000000015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BB2-4E6E-B487-9C2D15AB64F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53626880"/>
        <c:axId val="1053627240"/>
      </c:lineChart>
      <c:catAx>
        <c:axId val="10536268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lt1">
                <a:lumMod val="95000"/>
                <a:alpha val="1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53627240"/>
        <c:crosses val="autoZero"/>
        <c:auto val="1"/>
        <c:lblAlgn val="ctr"/>
        <c:lblOffset val="100"/>
        <c:noMultiLvlLbl val="0"/>
      </c:catAx>
      <c:valAx>
        <c:axId val="10536272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_-[$R-1C09]* #\ ##0.00_-;\-[$R-1C09]* #\ ##0.00_-;_-[$R-1C09]* &quot;-&quot;??_-;_-@_-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536268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[bright_coffee_data_analysis.xlsx]Sheet5!PivotTable4</c:name>
    <c:fmtId val="5"/>
  </c:pivotSource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cap="all" spc="5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gradFill flip="none" rotWithShape="1">
            <a:gsLst>
              <a:gs pos="0">
                <a:schemeClr val="accent1"/>
              </a:gs>
              <a:gs pos="75000">
                <a:schemeClr val="accent1">
                  <a:lumMod val="60000"/>
                  <a:lumOff val="40000"/>
                </a:schemeClr>
              </a:gs>
              <a:gs pos="51000">
                <a:schemeClr val="accent1">
                  <a:alpha val="75000"/>
                </a:schemeClr>
              </a:gs>
              <a:gs pos="100000">
                <a:schemeClr val="accent1">
                  <a:lumMod val="20000"/>
                  <a:lumOff val="80000"/>
                  <a:alpha val="15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circle"/>
          <c:size val="6"/>
          <c:spPr>
            <a:gradFill flip="none" rotWithShape="1">
              <a:gsLst>
                <a:gs pos="0">
                  <a:schemeClr val="accent1"/>
                </a:gs>
                <a:gs pos="75000">
                  <a:schemeClr val="accent1">
                    <a:lumMod val="60000"/>
                    <a:lumOff val="40000"/>
                  </a:schemeClr>
                </a:gs>
                <a:gs pos="51000">
                  <a:schemeClr val="accent1">
                    <a:alpha val="75000"/>
                  </a:schemeClr>
                </a:gs>
                <a:gs pos="100000">
                  <a:schemeClr val="accent1">
                    <a:lumMod val="20000"/>
                    <a:lumOff val="80000"/>
                    <a:alpha val="15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1">
                  <a:shade val="95000"/>
                </a:schemeClr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flip="none" rotWithShape="1">
            <a:gsLst>
              <a:gs pos="0">
                <a:schemeClr val="accent1"/>
              </a:gs>
              <a:gs pos="75000">
                <a:schemeClr val="accent1">
                  <a:lumMod val="60000"/>
                  <a:lumOff val="40000"/>
                </a:schemeClr>
              </a:gs>
              <a:gs pos="51000">
                <a:schemeClr val="accent1">
                  <a:alpha val="75000"/>
                </a:schemeClr>
              </a:gs>
              <a:gs pos="100000">
                <a:schemeClr val="accent1">
                  <a:lumMod val="20000"/>
                  <a:lumOff val="80000"/>
                  <a:alpha val="15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flip="none" rotWithShape="1">
            <a:gsLst>
              <a:gs pos="0">
                <a:schemeClr val="accent1"/>
              </a:gs>
              <a:gs pos="75000">
                <a:schemeClr val="accent1">
                  <a:lumMod val="60000"/>
                  <a:lumOff val="40000"/>
                </a:schemeClr>
              </a:gs>
              <a:gs pos="51000">
                <a:schemeClr val="accent1">
                  <a:alpha val="75000"/>
                </a:schemeClr>
              </a:gs>
              <a:gs pos="100000">
                <a:schemeClr val="accent1">
                  <a:lumMod val="20000"/>
                  <a:lumOff val="80000"/>
                  <a:alpha val="15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Sheet5!$B$3</c:f>
              <c:strCache>
                <c:ptCount val="1"/>
                <c:pt idx="0">
                  <c:v>Total</c:v>
                </c:pt>
              </c:strCache>
            </c:strRef>
          </c:tx>
          <c:spPr>
            <a:gradFill flip="none" rotWithShape="1">
              <a:gsLst>
                <a:gs pos="0">
                  <a:schemeClr val="accent1"/>
                </a:gs>
                <a:gs pos="75000">
                  <a:schemeClr val="accent1">
                    <a:lumMod val="60000"/>
                    <a:lumOff val="40000"/>
                  </a:schemeClr>
                </a:gs>
                <a:gs pos="51000">
                  <a:schemeClr val="accent1">
                    <a:alpha val="75000"/>
                  </a:schemeClr>
                </a:gs>
                <a:gs pos="100000">
                  <a:schemeClr val="accent1">
                    <a:lumMod val="20000"/>
                    <a:lumOff val="80000"/>
                    <a:alpha val="15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cat>
            <c:strRef>
              <c:f>Sheet5!$A$4:$A$10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Sheet5!$B$4:$B$10</c:f>
              <c:numCache>
                <c:formatCode>_-[$R-1C09]* #\ ##0.00_-;\-[$R-1C09]* #\ ##0.00_-;_-[$R-1C09]* "-"??_-;_-@_-</c:formatCode>
                <c:ptCount val="6"/>
                <c:pt idx="0">
                  <c:v>17314</c:v>
                </c:pt>
                <c:pt idx="1">
                  <c:v>16359</c:v>
                </c:pt>
                <c:pt idx="2">
                  <c:v>21229</c:v>
                </c:pt>
                <c:pt idx="3">
                  <c:v>25335</c:v>
                </c:pt>
                <c:pt idx="4">
                  <c:v>33527</c:v>
                </c:pt>
                <c:pt idx="5">
                  <c:v>35352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37A-417A-BC34-A15497130F6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55"/>
        <c:overlap val="-70"/>
        <c:axId val="999855968"/>
        <c:axId val="999864248"/>
      </c:barChart>
      <c:catAx>
        <c:axId val="9998559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99864248"/>
        <c:crosses val="autoZero"/>
        <c:auto val="1"/>
        <c:lblAlgn val="ctr"/>
        <c:lblOffset val="100"/>
        <c:noMultiLvlLbl val="0"/>
      </c:catAx>
      <c:valAx>
        <c:axId val="999864248"/>
        <c:scaling>
          <c:orientation val="minMax"/>
        </c:scaling>
        <c:delete val="0"/>
        <c:axPos val="l"/>
        <c:majorGridlines>
          <c:spPr>
            <a:ln w="9525" cap="flat" cmpd="sng" algn="ctr">
              <a:gradFill>
                <a:gsLst>
                  <a:gs pos="100000">
                    <a:schemeClr val="tx1">
                      <a:lumMod val="5000"/>
                      <a:lumOff val="95000"/>
                    </a:schemeClr>
                  </a:gs>
                  <a:gs pos="0">
                    <a:schemeClr val="tx1">
                      <a:lumMod val="25000"/>
                      <a:lumOff val="75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_-[$R-1C09]* #\ ##0.00_-;\-[$R-1C09]* #\ ##0.00_-;_-[$R-1C09]* &quot;-&quot;??_-;_-@_-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9985596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[bright_coffee_data_analysis.xlsx]sales per prodct!PivotTable7</c:name>
    <c:fmtId val="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cap="all" spc="5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Total revenue per</a:t>
            </a:r>
            <a:r>
              <a:rPr lang="en-US" baseline="0"/>
              <a:t> product</a:t>
            </a:r>
            <a:r>
              <a:rPr lang="en-US"/>
              <a:t> type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cap="all" spc="5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gradFill flip="none" rotWithShape="1">
            <a:gsLst>
              <a:gs pos="0">
                <a:schemeClr val="accent1"/>
              </a:gs>
              <a:gs pos="75000">
                <a:schemeClr val="accent1">
                  <a:lumMod val="60000"/>
                  <a:lumOff val="40000"/>
                </a:schemeClr>
              </a:gs>
              <a:gs pos="51000">
                <a:schemeClr val="accent1">
                  <a:alpha val="75000"/>
                </a:schemeClr>
              </a:gs>
              <a:gs pos="100000">
                <a:schemeClr val="accent1">
                  <a:lumMod val="20000"/>
                  <a:lumOff val="80000"/>
                  <a:alpha val="15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circle"/>
          <c:size val="6"/>
          <c:spPr>
            <a:gradFill flip="none" rotWithShape="1">
              <a:gsLst>
                <a:gs pos="0">
                  <a:schemeClr val="accent1"/>
                </a:gs>
                <a:gs pos="75000">
                  <a:schemeClr val="accent1">
                    <a:lumMod val="60000"/>
                    <a:lumOff val="40000"/>
                  </a:schemeClr>
                </a:gs>
                <a:gs pos="51000">
                  <a:schemeClr val="accent1">
                    <a:alpha val="75000"/>
                  </a:schemeClr>
                </a:gs>
                <a:gs pos="100000">
                  <a:schemeClr val="accent1">
                    <a:lumMod val="20000"/>
                    <a:lumOff val="80000"/>
                    <a:alpha val="15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1">
                  <a:shade val="95000"/>
                </a:schemeClr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flip="none" rotWithShape="1">
            <a:gsLst>
              <a:gs pos="0">
                <a:schemeClr val="accent1"/>
              </a:gs>
              <a:gs pos="75000">
                <a:schemeClr val="accent1">
                  <a:lumMod val="60000"/>
                  <a:lumOff val="40000"/>
                </a:schemeClr>
              </a:gs>
              <a:gs pos="51000">
                <a:schemeClr val="accent1">
                  <a:alpha val="75000"/>
                </a:schemeClr>
              </a:gs>
              <a:gs pos="100000">
                <a:schemeClr val="accent1">
                  <a:lumMod val="20000"/>
                  <a:lumOff val="80000"/>
                  <a:alpha val="15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flip="none" rotWithShape="1">
            <a:gsLst>
              <a:gs pos="0">
                <a:schemeClr val="accent1"/>
              </a:gs>
              <a:gs pos="75000">
                <a:schemeClr val="accent1">
                  <a:lumMod val="60000"/>
                  <a:lumOff val="40000"/>
                </a:schemeClr>
              </a:gs>
              <a:gs pos="51000">
                <a:schemeClr val="accent1">
                  <a:alpha val="75000"/>
                </a:schemeClr>
              </a:gs>
              <a:gs pos="100000">
                <a:schemeClr val="accent1">
                  <a:lumMod val="20000"/>
                  <a:lumOff val="80000"/>
                  <a:alpha val="15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'sales per prodct'!$B$3</c:f>
              <c:strCache>
                <c:ptCount val="1"/>
                <c:pt idx="0">
                  <c:v>Total</c:v>
                </c:pt>
              </c:strCache>
            </c:strRef>
          </c:tx>
          <c:spPr>
            <a:gradFill flip="none" rotWithShape="1">
              <a:gsLst>
                <a:gs pos="0">
                  <a:schemeClr val="accent1"/>
                </a:gs>
                <a:gs pos="75000">
                  <a:schemeClr val="accent1">
                    <a:lumMod val="60000"/>
                    <a:lumOff val="40000"/>
                  </a:schemeClr>
                </a:gs>
                <a:gs pos="51000">
                  <a:schemeClr val="accent1">
                    <a:alpha val="75000"/>
                  </a:schemeClr>
                </a:gs>
                <a:gs pos="100000">
                  <a:schemeClr val="accent1">
                    <a:lumMod val="20000"/>
                    <a:lumOff val="80000"/>
                    <a:alpha val="15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cat>
            <c:multiLvlStrRef>
              <c:f>'sales per prodct'!$A$4:$A$42</c:f>
              <c:multiLvlStrCache>
                <c:ptCount val="29"/>
                <c:lvl>
                  <c:pt idx="0">
                    <c:v>Biscotti</c:v>
                  </c:pt>
                  <c:pt idx="1">
                    <c:v>Pastry</c:v>
                  </c:pt>
                  <c:pt idx="2">
                    <c:v>Scone</c:v>
                  </c:pt>
                  <c:pt idx="3">
                    <c:v>Clothing</c:v>
                  </c:pt>
                  <c:pt idx="4">
                    <c:v>Housewares</c:v>
                  </c:pt>
                  <c:pt idx="5">
                    <c:v>Barista Espresso</c:v>
                  </c:pt>
                  <c:pt idx="6">
                    <c:v>Drip coffee</c:v>
                  </c:pt>
                  <c:pt idx="7">
                    <c:v>Gourmet brewed coffee</c:v>
                  </c:pt>
                  <c:pt idx="8">
                    <c:v>Organic brewed coffee</c:v>
                  </c:pt>
                  <c:pt idx="9">
                    <c:v>Premium brewed coffee</c:v>
                  </c:pt>
                  <c:pt idx="10">
                    <c:v>Espresso Beans</c:v>
                  </c:pt>
                  <c:pt idx="11">
                    <c:v>Gourmet Beans</c:v>
                  </c:pt>
                  <c:pt idx="12">
                    <c:v>Green beans</c:v>
                  </c:pt>
                  <c:pt idx="13">
                    <c:v>House blend Beans</c:v>
                  </c:pt>
                  <c:pt idx="14">
                    <c:v>Organic Beans</c:v>
                  </c:pt>
                  <c:pt idx="15">
                    <c:v>Premium Beans</c:v>
                  </c:pt>
                  <c:pt idx="16">
                    <c:v>Hot chocolate</c:v>
                  </c:pt>
                  <c:pt idx="17">
                    <c:v>Regular syrup</c:v>
                  </c:pt>
                  <c:pt idx="18">
                    <c:v>Sugar free syrup</c:v>
                  </c:pt>
                  <c:pt idx="19">
                    <c:v>Black tea</c:v>
                  </c:pt>
                  <c:pt idx="20">
                    <c:v>Chai tea</c:v>
                  </c:pt>
                  <c:pt idx="21">
                    <c:v>Green tea</c:v>
                  </c:pt>
                  <c:pt idx="22">
                    <c:v>Herbal tea</c:v>
                  </c:pt>
                  <c:pt idx="23">
                    <c:v>Drinking Chocolate</c:v>
                  </c:pt>
                  <c:pt idx="24">
                    <c:v>Organic Chocolate</c:v>
                  </c:pt>
                  <c:pt idx="25">
                    <c:v>Brewed Black tea</c:v>
                  </c:pt>
                  <c:pt idx="26">
                    <c:v>Brewed Chai tea</c:v>
                  </c:pt>
                  <c:pt idx="27">
                    <c:v>Brewed Green tea</c:v>
                  </c:pt>
                  <c:pt idx="28">
                    <c:v>Brewed herbal tea</c:v>
                  </c:pt>
                </c:lvl>
                <c:lvl>
                  <c:pt idx="0">
                    <c:v>Bakery</c:v>
                  </c:pt>
                  <c:pt idx="3">
                    <c:v>Branded</c:v>
                  </c:pt>
                  <c:pt idx="5">
                    <c:v>Coffee</c:v>
                  </c:pt>
                  <c:pt idx="10">
                    <c:v>Coffee beans</c:v>
                  </c:pt>
                  <c:pt idx="16">
                    <c:v>Drinking Chocolate</c:v>
                  </c:pt>
                  <c:pt idx="17">
                    <c:v>Flavours</c:v>
                  </c:pt>
                  <c:pt idx="19">
                    <c:v>Loose Tea</c:v>
                  </c:pt>
                  <c:pt idx="23">
                    <c:v>Packaged Chocolate</c:v>
                  </c:pt>
                  <c:pt idx="25">
                    <c:v>Tea</c:v>
                  </c:pt>
                </c:lvl>
              </c:multiLvlStrCache>
            </c:multiLvlStrRef>
          </c:cat>
          <c:val>
            <c:numRef>
              <c:f>'sales per prodct'!$B$4:$B$42</c:f>
              <c:numCache>
                <c:formatCode>_-[$R-1C09]* #\ ##0.00_-;\-[$R-1C09]* #\ ##0.00_-;_-[$R-1C09]* "-"??_-;_-@_-</c:formatCode>
                <c:ptCount val="29"/>
                <c:pt idx="0">
                  <c:v>19793.53</c:v>
                </c:pt>
                <c:pt idx="1">
                  <c:v>25655.989999999994</c:v>
                </c:pt>
                <c:pt idx="2">
                  <c:v>36866.120000000185</c:v>
                </c:pt>
                <c:pt idx="3">
                  <c:v>6163</c:v>
                </c:pt>
                <c:pt idx="4">
                  <c:v>7444</c:v>
                </c:pt>
                <c:pt idx="5">
                  <c:v>91406.200000000317</c:v>
                </c:pt>
                <c:pt idx="6">
                  <c:v>31984</c:v>
                </c:pt>
                <c:pt idx="7">
                  <c:v>70034.59999999922</c:v>
                </c:pt>
                <c:pt idx="8">
                  <c:v>37746.500000001004</c:v>
                </c:pt>
                <c:pt idx="9">
                  <c:v>38781.149999999972</c:v>
                </c:pt>
                <c:pt idx="10">
                  <c:v>5560.2499999999854</c:v>
                </c:pt>
                <c:pt idx="11">
                  <c:v>6798</c:v>
                </c:pt>
                <c:pt idx="12">
                  <c:v>1340</c:v>
                </c:pt>
                <c:pt idx="13">
                  <c:v>3294</c:v>
                </c:pt>
                <c:pt idx="14">
                  <c:v>8509.5</c:v>
                </c:pt>
                <c:pt idx="15">
                  <c:v>14583.5</c:v>
                </c:pt>
                <c:pt idx="16">
                  <c:v>72416</c:v>
                </c:pt>
                <c:pt idx="17">
                  <c:v>6084.8000000004595</c:v>
                </c:pt>
                <c:pt idx="18">
                  <c:v>2323.9999999999518</c:v>
                </c:pt>
                <c:pt idx="19">
                  <c:v>2711.8499999999935</c:v>
                </c:pt>
                <c:pt idx="20">
                  <c:v>4301.2499999999773</c:v>
                </c:pt>
                <c:pt idx="21">
                  <c:v>1470.75</c:v>
                </c:pt>
                <c:pt idx="22">
                  <c:v>2729.7499999999932</c:v>
                </c:pt>
                <c:pt idx="23">
                  <c:v>2728.04</c:v>
                </c:pt>
                <c:pt idx="24">
                  <c:v>1679.5999999999942</c:v>
                </c:pt>
                <c:pt idx="25">
                  <c:v>47932</c:v>
                </c:pt>
                <c:pt idx="26">
                  <c:v>77081.949999999968</c:v>
                </c:pt>
                <c:pt idx="27">
                  <c:v>23852.5</c:v>
                </c:pt>
                <c:pt idx="28">
                  <c:v>47539.5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A50-4375-967C-8C5F314F50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55"/>
        <c:overlap val="-70"/>
        <c:axId val="1049564576"/>
        <c:axId val="1049566016"/>
      </c:barChart>
      <c:catAx>
        <c:axId val="10495645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49566016"/>
        <c:crosses val="autoZero"/>
        <c:auto val="1"/>
        <c:lblAlgn val="ctr"/>
        <c:lblOffset val="100"/>
        <c:noMultiLvlLbl val="0"/>
      </c:catAx>
      <c:valAx>
        <c:axId val="1049566016"/>
        <c:scaling>
          <c:orientation val="minMax"/>
        </c:scaling>
        <c:delete val="0"/>
        <c:axPos val="l"/>
        <c:majorGridlines>
          <c:spPr>
            <a:ln w="9525" cap="flat" cmpd="sng" algn="ctr">
              <a:gradFill>
                <a:gsLst>
                  <a:gs pos="100000">
                    <a:schemeClr val="tx1">
                      <a:lumMod val="5000"/>
                      <a:lumOff val="95000"/>
                    </a:schemeClr>
                  </a:gs>
                  <a:gs pos="0">
                    <a:schemeClr val="tx1">
                      <a:lumMod val="25000"/>
                      <a:lumOff val="75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_-[$R-1C09]* #\ ##0.00_-;\-[$R-1C09]* #\ ##0.00_-;_-[$R-1C09]* &quot;-&quot;??_-;_-@_-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495645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7">
  <cs:axisTitle>
    <cs:lnRef idx="0"/>
    <cs:fillRef idx="0"/>
    <cs:effectRef idx="0"/>
    <cs:fontRef idx="minor">
      <a:schemeClr val="tx2"/>
    </cs:fontRef>
    <cs:defRPr sz="1197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2"/>
    </cs:fontRef>
    <cs:defRPr sz="1197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  <a:lumOff val="2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1197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2128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1197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1197" kern="1200"/>
  </cs:valueAxis>
  <cs:wall>
    <cs:lnRef idx="0"/>
    <cs:fillRef idx="0"/>
    <cs:effectRef idx="0"/>
    <cs:fontRef idx="minor">
      <a:schemeClr val="tx2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67">
  <cs:axisTitle>
    <cs:lnRef idx="0"/>
    <cs:fillRef idx="0"/>
    <cs:effectRef idx="0"/>
    <cs:fontRef idx="minor">
      <a:schemeClr val="dk1">
        <a:lumMod val="65000"/>
        <a:lumOff val="3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 cap="none" spc="0" normalizeH="0" baseline="0"/>
  </cs:categoryAxis>
  <cs:chartArea>
    <cs:lnRef idx="0"/>
    <cs:fillRef idx="0"/>
    <cs:effectRef idx="0"/>
    <cs:fontRef idx="minor">
      <a:schemeClr val="dk1"/>
    </cs:fontRef>
    <cs:spPr>
      <a:pattFill prst="dkDnDiag">
        <a:fgClr>
          <a:schemeClr val="lt1"/>
        </a:fgClr>
        <a:bgClr>
          <a:schemeClr val="dk1">
            <a:lumMod val="10000"/>
            <a:lumOff val="90000"/>
          </a:schemeClr>
        </a:bgClr>
      </a:patt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>
          <a:alpha val="75000"/>
        </a:schemeClr>
      </a:solidFill>
      <a:ln w="9525"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gradFill>
        <a:gsLst>
          <a:gs pos="100000">
            <a:schemeClr val="phClr">
              <a:lumMod val="60000"/>
              <a:lumOff val="40000"/>
            </a:schemeClr>
          </a:gs>
          <a:gs pos="0">
            <a:schemeClr val="phClr"/>
          </a:gs>
        </a:gsLst>
        <a:lin ang="5400000" scaled="0"/>
      </a:gra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gradFill>
        <a:gsLst>
          <a:gs pos="100000">
            <a:schemeClr val="phClr">
              <a:lumMod val="60000"/>
              <a:lumOff val="40000"/>
            </a:schemeClr>
          </a:gs>
          <a:gs pos="0">
            <a:schemeClr val="phClr"/>
          </a:gs>
        </a:gsLst>
        <a:lin ang="5400000" scaled="0"/>
      </a:gradFill>
      <a:ln w="508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lt1"/>
      </a:solidFill>
      <a:ln w="1587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8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>
          <a:alpha val="50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dk1">
        <a:lumMod val="50000"/>
        <a:lumOff val="50000"/>
      </a:schemeClr>
    </cs:fontRef>
    <cs:defRPr sz="1600" b="1" kern="1200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1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bg1"/>
    </cs:fontRef>
    <cs:spPr>
      <a:solidFill>
        <a:schemeClr val="tx1">
          <a:lumMod val="50000"/>
          <a:lumOff val="50000"/>
        </a:schemeClr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gradFill flip="none" rotWithShape="1">
        <a:gsLst>
          <a:gs pos="0">
            <a:schemeClr val="phClr"/>
          </a:gs>
          <a:gs pos="75000">
            <a:schemeClr val="phClr">
              <a:lumMod val="60000"/>
              <a:lumOff val="40000"/>
            </a:schemeClr>
          </a:gs>
          <a:gs pos="51000">
            <a:schemeClr val="phClr">
              <a:alpha val="75000"/>
            </a:schemeClr>
          </a:gs>
          <a:gs pos="100000">
            <a:schemeClr val="phClr">
              <a:lumMod val="20000"/>
              <a:lumOff val="80000"/>
              <a:alpha val="15000"/>
            </a:schemeClr>
          </a:gs>
        </a:gsLst>
        <a:lin ang="5400000" scaled="0"/>
      </a:gra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gradFill flip="none" rotWithShape="1">
        <a:gsLst>
          <a:gs pos="0">
            <a:schemeClr val="phClr"/>
          </a:gs>
          <a:gs pos="75000">
            <a:schemeClr val="phClr">
              <a:lumMod val="60000"/>
              <a:lumOff val="40000"/>
            </a:schemeClr>
          </a:gs>
          <a:gs pos="51000">
            <a:schemeClr val="phClr">
              <a:alpha val="75000"/>
            </a:schemeClr>
          </a:gs>
          <a:gs pos="100000">
            <a:schemeClr val="phClr">
              <a:lumMod val="20000"/>
              <a:lumOff val="80000"/>
              <a:alpha val="15000"/>
            </a:schemeClr>
          </a:gs>
        </a:gsLst>
        <a:lin ang="5400000" scaled="0"/>
      </a:gra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 flip="none" rotWithShape="1">
        <a:gsLst>
          <a:gs pos="0">
            <a:schemeClr val="phClr"/>
          </a:gs>
          <a:gs pos="75000">
            <a:schemeClr val="phClr">
              <a:lumMod val="60000"/>
              <a:lumOff val="40000"/>
            </a:schemeClr>
          </a:gs>
          <a:gs pos="51000">
            <a:schemeClr val="phClr">
              <a:alpha val="75000"/>
            </a:schemeClr>
          </a:gs>
          <a:gs pos="100000">
            <a:schemeClr val="phClr">
              <a:lumMod val="20000"/>
              <a:lumOff val="80000"/>
              <a:alpha val="15000"/>
            </a:schemeClr>
          </a:gs>
        </a:gsLst>
        <a:lin ang="5400000" scaled="0"/>
      </a:gradFill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tx1">
                <a:lumMod val="5000"/>
                <a:lumOff val="95000"/>
              </a:schemeClr>
            </a:gs>
            <a:gs pos="0">
              <a:schemeClr val="tx1">
                <a:lumMod val="25000"/>
                <a:lumOff val="75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tx1">
                <a:lumMod val="5000"/>
                <a:lumOff val="95000"/>
              </a:schemeClr>
            </a:gs>
            <a:gs pos="0">
              <a:schemeClr val="tx1">
                <a:lumMod val="25000"/>
                <a:lumOff val="75000"/>
              </a:schemeClr>
            </a:gs>
          </a:gsLst>
          <a:lin ang="5400000" scaled="0"/>
        </a:gra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  <a:headEnd type="none" w="sm" len="sm"/>
        <a:tailEnd type="none" w="sm" len="sm"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00" b="1" kern="1200" cap="all" spc="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1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bg1"/>
    </cs:fontRef>
    <cs:spPr>
      <a:solidFill>
        <a:schemeClr val="tx1">
          <a:lumMod val="50000"/>
          <a:lumOff val="50000"/>
        </a:schemeClr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gradFill flip="none" rotWithShape="1">
        <a:gsLst>
          <a:gs pos="0">
            <a:schemeClr val="phClr"/>
          </a:gs>
          <a:gs pos="75000">
            <a:schemeClr val="phClr">
              <a:lumMod val="60000"/>
              <a:lumOff val="40000"/>
            </a:schemeClr>
          </a:gs>
          <a:gs pos="51000">
            <a:schemeClr val="phClr">
              <a:alpha val="75000"/>
            </a:schemeClr>
          </a:gs>
          <a:gs pos="100000">
            <a:schemeClr val="phClr">
              <a:lumMod val="20000"/>
              <a:lumOff val="80000"/>
              <a:alpha val="15000"/>
            </a:schemeClr>
          </a:gs>
        </a:gsLst>
        <a:lin ang="5400000" scaled="0"/>
      </a:gra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gradFill flip="none" rotWithShape="1">
        <a:gsLst>
          <a:gs pos="0">
            <a:schemeClr val="phClr"/>
          </a:gs>
          <a:gs pos="75000">
            <a:schemeClr val="phClr">
              <a:lumMod val="60000"/>
              <a:lumOff val="40000"/>
            </a:schemeClr>
          </a:gs>
          <a:gs pos="51000">
            <a:schemeClr val="phClr">
              <a:alpha val="75000"/>
            </a:schemeClr>
          </a:gs>
          <a:gs pos="100000">
            <a:schemeClr val="phClr">
              <a:lumMod val="20000"/>
              <a:lumOff val="80000"/>
              <a:alpha val="15000"/>
            </a:schemeClr>
          </a:gs>
        </a:gsLst>
        <a:lin ang="5400000" scaled="0"/>
      </a:gra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 flip="none" rotWithShape="1">
        <a:gsLst>
          <a:gs pos="0">
            <a:schemeClr val="phClr"/>
          </a:gs>
          <a:gs pos="75000">
            <a:schemeClr val="phClr">
              <a:lumMod val="60000"/>
              <a:lumOff val="40000"/>
            </a:schemeClr>
          </a:gs>
          <a:gs pos="51000">
            <a:schemeClr val="phClr">
              <a:alpha val="75000"/>
            </a:schemeClr>
          </a:gs>
          <a:gs pos="100000">
            <a:schemeClr val="phClr">
              <a:lumMod val="20000"/>
              <a:lumOff val="80000"/>
              <a:alpha val="15000"/>
            </a:schemeClr>
          </a:gs>
        </a:gsLst>
        <a:lin ang="5400000" scaled="0"/>
      </a:gradFill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tx1">
                <a:lumMod val="5000"/>
                <a:lumOff val="95000"/>
              </a:schemeClr>
            </a:gs>
            <a:gs pos="0">
              <a:schemeClr val="tx1">
                <a:lumMod val="25000"/>
                <a:lumOff val="75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tx1">
                <a:lumMod val="5000"/>
                <a:lumOff val="95000"/>
              </a:schemeClr>
            </a:gs>
            <a:gs pos="0">
              <a:schemeClr val="tx1">
                <a:lumMod val="25000"/>
                <a:lumOff val="75000"/>
              </a:schemeClr>
            </a:gs>
          </a:gsLst>
          <a:lin ang="5400000" scaled="0"/>
        </a:gra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  <a:headEnd type="none" w="sm" len="sm"/>
        <a:tailEnd type="none" w="sm" len="sm"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00" b="1" kern="1200" cap="all" spc="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8.xml><?xml version="1.0" encoding="utf-8"?>
<cs:chartStyle xmlns:cs="http://schemas.microsoft.com/office/drawing/2012/chartStyle" xmlns:a="http://schemas.openxmlformats.org/drawingml/2006/main" id="236">
  <cs:axisTitle>
    <cs:lnRef idx="0"/>
    <cs:fillRef idx="0"/>
    <cs:effectRef idx="0"/>
    <cs:fontRef idx="minor">
      <a:schemeClr val="lt1">
        <a:lumMod val="75000"/>
      </a:schemeClr>
    </cs:fontRef>
    <cs:defRPr sz="900" b="1" kern="1200"/>
  </cs:axisTitle>
  <cs:categoryAxis>
    <cs:lnRef idx="0"/>
    <cs:fillRef idx="0"/>
    <cs:effectRef idx="0"/>
    <cs:fontRef idx="minor">
      <a:schemeClr val="lt1">
        <a:lumMod val="75000"/>
      </a:schemeClr>
    </cs:fontRef>
    <cs:defRPr sz="900" kern="1200"/>
  </cs:categoryAxis>
  <cs:chartArea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>
        <a:lumMod val="75000"/>
      </a:schemeClr>
    </cs:fontRef>
    <cs:defRPr sz="900" kern="1200"/>
  </cs:dataLabel>
  <cs:dataLabelCallout>
    <cs:lnRef idx="0"/>
    <cs:fillRef idx="0"/>
    <cs:effectRef idx="0"/>
    <cs:fontRef idx="minor">
      <a:schemeClr val="lt1">
        <a:lumMod val="15000"/>
        <a:lumOff val="85000"/>
      </a:schemeClr>
    </cs:fontRef>
    <cs:spPr>
      <a:solidFill>
        <a:schemeClr val="dk1">
          <a:lumMod val="65000"/>
          <a:lumOff val="35000"/>
        </a:schemeClr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/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>
  <cs:dataPoint3D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3D>
  <cs:dataPointLine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22225" cap="rnd">
        <a:solidFill>
          <a:schemeClr val="phClr"/>
        </a:solidFill>
      </a:ln>
      <a:effectLst>
        <a:glow rad="139700">
          <a:schemeClr val="phClr">
            <a:satMod val="175000"/>
            <a:alpha val="14000"/>
          </a:schemeClr>
        </a:glow>
      </a:effectLst>
    </cs:spPr>
  </cs:dataPointLine>
  <cs:dataPointMarker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solidFill>
        <a:schemeClr val="phClr">
          <a:lumMod val="60000"/>
          <a:lumOff val="40000"/>
        </a:schemeClr>
      </a:solidFill>
      <a:effectLst>
        <a:glow rad="63500">
          <a:schemeClr val="phClr">
            <a:satMod val="175000"/>
            <a:alpha val="25000"/>
          </a:schemeClr>
        </a:glow>
      </a:effectLst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75000"/>
      </a:schemeClr>
    </cs:fontRef>
    <cs:spPr>
      <a:ln w="9525">
        <a:solidFill>
          <a:schemeClr val="dk1">
            <a:lumMod val="50000"/>
            <a:lumOff val="50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7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75000"/>
                <a:lumOff val="25000"/>
              </a:schemeClr>
            </a:gs>
            <a:gs pos="0">
              <a:schemeClr val="dk1">
                <a:lumMod val="65000"/>
                <a:lumOff val="35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75000"/>
                <a:lumOff val="25000"/>
                <a:alpha val="25000"/>
              </a:schemeClr>
            </a:gs>
            <a:gs pos="0">
              <a:schemeClr val="dk1">
                <a:lumMod val="65000"/>
                <a:lumOff val="35000"/>
                <a:alpha val="25000"/>
              </a:schemeClr>
            </a:gs>
          </a:gsLst>
          <a:lin ang="5400000" scaled="0"/>
        </a:gra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leaderLine>
  <cs:legend>
    <cs:lnRef idx="0"/>
    <cs:fillRef idx="0"/>
    <cs:effectRef idx="0"/>
    <cs:fontRef idx="minor">
      <a:schemeClr val="lt1">
        <a:lumMod val="75000"/>
      </a:schemeClr>
    </cs:fontRef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lt1">
        <a:lumMod val="7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85000"/>
      </a:schemeClr>
    </cs:fontRef>
    <cs:defRPr sz="1400" b="1" kern="1200" cap="none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25400" cap="rnd">
        <a:solidFill>
          <a:schemeClr val="phClr">
            <a:alpha val="50000"/>
          </a:schemeClr>
        </a:solidFill>
      </a:ln>
    </cs:spPr>
  </cs:trendline>
  <cs:trendlineLabel>
    <cs:lnRef idx="0"/>
    <cs:fillRef idx="0"/>
    <cs:effectRef idx="0"/>
    <cs:fontRef idx="minor">
      <a:schemeClr val="lt1">
        <a:lumMod val="7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85000"/>
        </a:schemeClr>
      </a:solidFill>
      <a:ln w="9525">
        <a:solidFill>
          <a:schemeClr val="dk1">
            <a:lumMod val="50000"/>
          </a:schemeClr>
        </a:solidFill>
        <a:round/>
      </a:ln>
    </cs:spPr>
  </cs:upBar>
  <cs:valueAxis>
    <cs:lnRef idx="0"/>
    <cs:fillRef idx="0"/>
    <cs:effectRef idx="0"/>
    <cs:fontRef idx="minor">
      <a:schemeClr val="lt1">
        <a:lumMod val="7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9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33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charts/style11.xml><?xml version="1.0" encoding="utf-8"?>
<cs:chartStyle xmlns:cs="http://schemas.microsoft.com/office/drawing/2012/chartStyle" xmlns:a="http://schemas.openxmlformats.org/drawingml/2006/main" id="21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bg1"/>
    </cs:fontRef>
    <cs:spPr>
      <a:solidFill>
        <a:schemeClr val="tx1">
          <a:lumMod val="50000"/>
          <a:lumOff val="50000"/>
        </a:schemeClr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gradFill flip="none" rotWithShape="1">
        <a:gsLst>
          <a:gs pos="0">
            <a:schemeClr val="phClr"/>
          </a:gs>
          <a:gs pos="75000">
            <a:schemeClr val="phClr">
              <a:lumMod val="60000"/>
              <a:lumOff val="40000"/>
            </a:schemeClr>
          </a:gs>
          <a:gs pos="51000">
            <a:schemeClr val="phClr">
              <a:alpha val="75000"/>
            </a:schemeClr>
          </a:gs>
          <a:gs pos="100000">
            <a:schemeClr val="phClr">
              <a:lumMod val="20000"/>
              <a:lumOff val="80000"/>
              <a:alpha val="15000"/>
            </a:schemeClr>
          </a:gs>
        </a:gsLst>
        <a:lin ang="5400000" scaled="0"/>
      </a:gra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gradFill flip="none" rotWithShape="1">
        <a:gsLst>
          <a:gs pos="0">
            <a:schemeClr val="phClr"/>
          </a:gs>
          <a:gs pos="75000">
            <a:schemeClr val="phClr">
              <a:lumMod val="60000"/>
              <a:lumOff val="40000"/>
            </a:schemeClr>
          </a:gs>
          <a:gs pos="51000">
            <a:schemeClr val="phClr">
              <a:alpha val="75000"/>
            </a:schemeClr>
          </a:gs>
          <a:gs pos="100000">
            <a:schemeClr val="phClr">
              <a:lumMod val="20000"/>
              <a:lumOff val="80000"/>
              <a:alpha val="15000"/>
            </a:schemeClr>
          </a:gs>
        </a:gsLst>
        <a:lin ang="5400000" scaled="0"/>
      </a:gra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 flip="none" rotWithShape="1">
        <a:gsLst>
          <a:gs pos="0">
            <a:schemeClr val="phClr"/>
          </a:gs>
          <a:gs pos="75000">
            <a:schemeClr val="phClr">
              <a:lumMod val="60000"/>
              <a:lumOff val="40000"/>
            </a:schemeClr>
          </a:gs>
          <a:gs pos="51000">
            <a:schemeClr val="phClr">
              <a:alpha val="75000"/>
            </a:schemeClr>
          </a:gs>
          <a:gs pos="100000">
            <a:schemeClr val="phClr">
              <a:lumMod val="20000"/>
              <a:lumOff val="80000"/>
              <a:alpha val="15000"/>
            </a:schemeClr>
          </a:gs>
        </a:gsLst>
        <a:lin ang="5400000" scaled="0"/>
      </a:gradFill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tx1">
                <a:lumMod val="5000"/>
                <a:lumOff val="95000"/>
              </a:schemeClr>
            </a:gs>
            <a:gs pos="0">
              <a:schemeClr val="tx1">
                <a:lumMod val="25000"/>
                <a:lumOff val="75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tx1">
                <a:lumMod val="5000"/>
                <a:lumOff val="95000"/>
              </a:schemeClr>
            </a:gs>
            <a:gs pos="0">
              <a:schemeClr val="tx1">
                <a:lumMod val="25000"/>
                <a:lumOff val="75000"/>
              </a:schemeClr>
            </a:gs>
          </a:gsLst>
          <a:lin ang="5400000" scaled="0"/>
        </a:gra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  <a:headEnd type="none" w="sm" len="sm"/>
        <a:tailEnd type="none" w="sm" len="sm"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00" b="1" kern="1200" cap="all" spc="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12.xml><?xml version="1.0" encoding="utf-8"?>
<cs:chartStyle xmlns:cs="http://schemas.microsoft.com/office/drawing/2012/chartStyle" xmlns:a="http://schemas.openxmlformats.org/drawingml/2006/main" id="21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bg1"/>
    </cs:fontRef>
    <cs:spPr>
      <a:solidFill>
        <a:schemeClr val="tx1">
          <a:lumMod val="50000"/>
          <a:lumOff val="50000"/>
        </a:schemeClr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gradFill flip="none" rotWithShape="1">
        <a:gsLst>
          <a:gs pos="0">
            <a:schemeClr val="phClr"/>
          </a:gs>
          <a:gs pos="75000">
            <a:schemeClr val="phClr">
              <a:lumMod val="60000"/>
              <a:lumOff val="40000"/>
            </a:schemeClr>
          </a:gs>
          <a:gs pos="51000">
            <a:schemeClr val="phClr">
              <a:alpha val="75000"/>
            </a:schemeClr>
          </a:gs>
          <a:gs pos="100000">
            <a:schemeClr val="phClr">
              <a:lumMod val="20000"/>
              <a:lumOff val="80000"/>
              <a:alpha val="15000"/>
            </a:schemeClr>
          </a:gs>
        </a:gsLst>
        <a:lin ang="5400000" scaled="0"/>
      </a:gra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gradFill flip="none" rotWithShape="1">
        <a:gsLst>
          <a:gs pos="0">
            <a:schemeClr val="phClr"/>
          </a:gs>
          <a:gs pos="75000">
            <a:schemeClr val="phClr">
              <a:lumMod val="60000"/>
              <a:lumOff val="40000"/>
            </a:schemeClr>
          </a:gs>
          <a:gs pos="51000">
            <a:schemeClr val="phClr">
              <a:alpha val="75000"/>
            </a:schemeClr>
          </a:gs>
          <a:gs pos="100000">
            <a:schemeClr val="phClr">
              <a:lumMod val="20000"/>
              <a:lumOff val="80000"/>
              <a:alpha val="15000"/>
            </a:schemeClr>
          </a:gs>
        </a:gsLst>
        <a:lin ang="5400000" scaled="0"/>
      </a:gra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 flip="none" rotWithShape="1">
        <a:gsLst>
          <a:gs pos="0">
            <a:schemeClr val="phClr"/>
          </a:gs>
          <a:gs pos="75000">
            <a:schemeClr val="phClr">
              <a:lumMod val="60000"/>
              <a:lumOff val="40000"/>
            </a:schemeClr>
          </a:gs>
          <a:gs pos="51000">
            <a:schemeClr val="phClr">
              <a:alpha val="75000"/>
            </a:schemeClr>
          </a:gs>
          <a:gs pos="100000">
            <a:schemeClr val="phClr">
              <a:lumMod val="20000"/>
              <a:lumOff val="80000"/>
              <a:alpha val="15000"/>
            </a:schemeClr>
          </a:gs>
        </a:gsLst>
        <a:lin ang="5400000" scaled="0"/>
      </a:gradFill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tx1">
                <a:lumMod val="5000"/>
                <a:lumOff val="95000"/>
              </a:schemeClr>
            </a:gs>
            <a:gs pos="0">
              <a:schemeClr val="tx1">
                <a:lumMod val="25000"/>
                <a:lumOff val="75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tx1">
                <a:lumMod val="5000"/>
                <a:lumOff val="95000"/>
              </a:schemeClr>
            </a:gs>
            <a:gs pos="0">
              <a:schemeClr val="tx1">
                <a:lumMod val="25000"/>
                <a:lumOff val="75000"/>
              </a:schemeClr>
            </a:gs>
          </a:gsLst>
          <a:lin ang="5400000" scaled="0"/>
        </a:gra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  <a:headEnd type="none" w="sm" len="sm"/>
        <a:tailEnd type="none" w="sm" len="sm"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00" b="1" kern="1200" cap="all" spc="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698C0E1-628D-4A29-932B-81EFC1D54B0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4E1657-5A73-426A-A66E-C4F85559BEA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80B55D-A28C-4981-AA30-62D8B2215F35}" type="datetimeFigureOut">
              <a:rPr lang="en-US" smtClean="0"/>
              <a:t>4/17/2026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BF12EE-0BCA-4112-A66D-A1C7DDACEE3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59303C-1C5B-4166-91D0-954E1FF8A25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21B084-08CE-4CE2-A230-03FB2D2096E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96255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3E07F7-7765-40B0-95C6-6F0178FC4D78}" type="datetimeFigureOut">
              <a:rPr lang="en-US" smtClean="0"/>
              <a:t>4/17/2026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4B07EB-3CEE-4B2A-A06F-03C965D4E9F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6297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BFE780-4B97-4708-B97F-94D8ADC6D79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66739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8C22AF-75C7-433B-B852-69970FBFF62D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4271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6D7BE9-6C4F-48E9-816E-E7C44694421A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99155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6D7BE9-6C4F-48E9-816E-E7C44694421A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37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4B07EB-3CEE-4B2A-A06F-03C965D4E9F1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6692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4B07EB-3CEE-4B2A-A06F-03C965D4E9F1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75236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ACC310-143E-E54E-8455-F00F6E51B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CF795C-8618-8331-702F-0ACA7CD3F8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6FC83B-2F8A-4E51-38B2-8A88531257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CFC383-3F91-EA93-32BD-F95FEB3031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6D7BE9-6C4F-48E9-816E-E7C44694421A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97081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6D7BE9-6C4F-48E9-816E-E7C44694421A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92680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4B07EB-3CEE-4B2A-A06F-03C965D4E9F1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61123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4B07EB-3CEE-4B2A-A06F-03C965D4E9F1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95493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6D7BE9-6C4F-48E9-816E-E7C44694421A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88756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6D7BE9-6C4F-48E9-816E-E7C44694421A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5678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74423" y="802298"/>
            <a:ext cx="8637073" cy="2920713"/>
          </a:xfrm>
        </p:spPr>
        <p:txBody>
          <a:bodyPr bIns="0" anchor="b">
            <a:normAutofit/>
          </a:bodyPr>
          <a:lstStyle>
            <a:lvl1pPr algn="ctr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74424" y="3724074"/>
            <a:ext cx="8637072" cy="977621"/>
          </a:xfrm>
        </p:spPr>
        <p:txBody>
          <a:bodyPr tIns="91440" bIns="91440">
            <a:normAutofit/>
          </a:bodyPr>
          <a:lstStyle>
            <a:lvl1pPr marL="0" indent="0" algn="ctr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1579" y="329307"/>
            <a:ext cx="5626774" cy="309201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76834" y="798973"/>
            <a:ext cx="811019" cy="503578"/>
          </a:xfrm>
        </p:spPr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0704962"/>
      </p:ext>
    </p:extLst>
  </p:cSld>
  <p:clrMapOvr>
    <a:masterClrMapping/>
  </p:clrMapOvr>
  <p:hf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7474975"/>
      </p:ext>
    </p:extLst>
  </p:cSld>
  <p:clrMapOvr>
    <a:masterClrMapping/>
  </p:clrMapOvr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4423" y="1756130"/>
            <a:ext cx="8643154" cy="1969007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4423" y="3725137"/>
            <a:ext cx="8643154" cy="1093987"/>
          </a:xfrm>
        </p:spPr>
        <p:txBody>
          <a:bodyPr tIns="91440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7234899"/>
      </p:ext>
    </p:extLst>
  </p:cSld>
  <p:clrMapOvr>
    <a:masterClrMapping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293577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488654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54140" y="2017343"/>
            <a:ext cx="4488654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3171849"/>
      </p:ext>
    </p:extLst>
  </p:cSld>
  <p:clrMapOvr>
    <a:masterClrMapping/>
  </p:clrMapOvr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295603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488794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488794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56025" y="2023003"/>
            <a:ext cx="4488794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56025" y="2821491"/>
            <a:ext cx="4488794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1239162"/>
      </p:ext>
    </p:extLst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4164574"/>
      </p:ext>
    </p:extLst>
  </p:cSld>
  <p:clrMapOvr>
    <a:masterClrMapping/>
  </p:clrMapOvr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3571519"/>
      </p:ext>
    </p:extLst>
  </p:cSld>
  <p:clrMapOvr>
    <a:masterClrMapping/>
  </p:clrMapOvr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2961967" cy="2406518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3032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2961967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4700559"/>
      </p:ext>
    </p:extLst>
  </p:cSld>
  <p:clrMapOvr>
    <a:masterClrMapping/>
  </p:clrMapOvr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>
            <a:xfrm>
              <a:off x="7477387" y="482170"/>
              <a:ext cx="4074533" cy="5149101"/>
            </a:xfrm>
            <a:prstGeom prst="rect">
              <a:avLst/>
            </a:prstGeom>
            <a:blipFill dpi="0" rotWithShape="1">
              <a:blip r:embed="rId2">
                <a:alphaModFix amt="30000"/>
              </a:blip>
              <a:srcRect/>
              <a:tile tx="0" ty="0" sx="100000" sy="100000" flip="none" algn="ctr"/>
            </a:blip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 extrusionH="76200" contourW="12700" prstMaterial="matte">
              <a:bevelT w="152400" h="50800" prst="softRound"/>
              <a:extrusionClr>
                <a:schemeClr val="tx2"/>
              </a:extrusionClr>
              <a:contourClr>
                <a:schemeClr val="bg2"/>
              </a:contourClr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38100" cmpd="sng">
              <a:solidFill>
                <a:schemeClr val="tx2">
                  <a:lumMod val="25000"/>
                </a:schemeClr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2"/>
            <a:ext cx="5532328" cy="1922299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50000"/>
              <a:lumOff val="50000"/>
              <a:alpha val="80000"/>
            </a:schemeClr>
          </a:solidFill>
          <a:ln w="9525" cap="sq">
            <a:noFill/>
            <a:miter lim="800000"/>
          </a:ln>
          <a:effectLst/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 dirty="0"/>
            </a:lvl1pPr>
          </a:lstStyle>
          <a:p>
            <a:pPr lvl="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059600"/>
            <a:ext cx="5524404" cy="2090134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27626"/>
      </p:ext>
    </p:extLst>
  </p:cSld>
  <p:clrMapOvr>
    <a:masterClrMapping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4819329"/>
      </p:ext>
    </p:extLst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27052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518654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095878"/>
      </p:ext>
    </p:extLst>
  </p:cSld>
  <p:clrMapOvr>
    <a:masterClrMapping/>
  </p:clrMapOvr>
  <p:hf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958888C-33C4-45BB-9053-0F238EBC250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 useBgFill="1">
        <p:nvSpPr>
          <p:cNvPr id="10" name="Title 1">
            <a:extLst>
              <a:ext uri="{FF2B5EF4-FFF2-40B4-BE49-F238E27FC236}">
                <a16:creationId xmlns:a16="http://schemas.microsoft.com/office/drawing/2014/main" id="{E234E1C5-BD1C-4142-BA62-2A1D902B60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63430" y="1762887"/>
            <a:ext cx="7665140" cy="2140251"/>
          </a:xfrm>
        </p:spPr>
        <p:txBody>
          <a:bodyPr tIns="365760" anchor="ctr">
            <a:normAutofit/>
          </a:bodyPr>
          <a:lstStyle>
            <a:lvl1pPr algn="ctr">
              <a:defRPr sz="5400"/>
            </a:lvl1pPr>
          </a:lstStyle>
          <a:p>
            <a:r>
              <a:rPr lang="en-US" sz="4800"/>
              <a:t>Click to edit Master title style</a:t>
            </a:r>
            <a:endParaRPr lang="en-US" sz="4800" dirty="0"/>
          </a:p>
        </p:txBody>
      </p:sp>
      <p:sp useBgFill="1">
        <p:nvSpPr>
          <p:cNvPr id="12" name="Subtitle 2" descr="Tag=AccentColor&#10;Flavor=Light&#10;Target=Text">
            <a:extLst>
              <a:ext uri="{FF2B5EF4-FFF2-40B4-BE49-F238E27FC236}">
                <a16:creationId xmlns:a16="http://schemas.microsoft.com/office/drawing/2014/main" id="{DED57426-1707-4704-8E09-2F76090515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63430" y="3903138"/>
            <a:ext cx="7665139" cy="119197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67748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B2FCC-99C4-4C2B-99B4-9C5E13D53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50975" y="782122"/>
            <a:ext cx="3619500" cy="2492828"/>
          </a:xfrm>
        </p:spPr>
        <p:txBody>
          <a:bodyPr anchor="b"/>
          <a:lstStyle>
            <a:lvl1pPr algn="l">
              <a:spcBef>
                <a:spcPts val="960"/>
              </a:spcBef>
              <a:spcAft>
                <a:spcPts val="600"/>
              </a:spcAft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958888C-33C4-45BB-9053-0F238EBC250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4740" y="0"/>
            <a:ext cx="3754712" cy="2675444"/>
          </a:xfrm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B5F49914-A317-424F-9214-203370D7674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749972" y="0"/>
            <a:ext cx="3793815" cy="2675444"/>
          </a:xfrm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Picture Placeholder 10">
            <a:extLst>
              <a:ext uri="{FF2B5EF4-FFF2-40B4-BE49-F238E27FC236}">
                <a16:creationId xmlns:a16="http://schemas.microsoft.com/office/drawing/2014/main" id="{B68EE34D-80C0-4CEE-99D1-3C91F6626DF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-4740" y="2675444"/>
            <a:ext cx="7543904" cy="4182556"/>
          </a:xfrm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25E34894-A499-4CC3-9F3E-BB0B1268C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95" y="6000749"/>
            <a:ext cx="667286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6F37D4A7-7BA4-4331-82C1-818D1B5B05B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042275" y="3592286"/>
            <a:ext cx="3619500" cy="1992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00308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3335" y="1233378"/>
            <a:ext cx="5697102" cy="1405366"/>
          </a:xfrm>
        </p:spPr>
        <p:txBody>
          <a:bodyPr anchor="b">
            <a:no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3795" y="3002281"/>
            <a:ext cx="5686437" cy="2271393"/>
          </a:xfrm>
        </p:spPr>
        <p:txBody>
          <a:bodyPr anchor="t">
            <a:normAutofit/>
          </a:bodyPr>
          <a:lstStyle>
            <a:lvl1pPr marL="0" indent="0" algn="ctr">
              <a:buNone/>
              <a:defRPr lang="en-US" sz="2000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Calibri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93FCD85-64A9-4257-8703-568A1629E13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96864" y="0"/>
            <a:ext cx="457200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A47AB1B-8039-41F6-A255-B03F33FB63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501468" y="1"/>
            <a:ext cx="4690532" cy="6858000"/>
          </a:xfrm>
          <a:prstGeom prst="rect">
            <a:avLst/>
          </a:prstGeom>
        </p:spPr>
      </p:pic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FBC8FC98-420D-47E9-A6BF-65337349F5D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6" y="6000749"/>
            <a:ext cx="2743200" cy="36512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016EE41C-5E1E-448A-AC09-A8C32B4A8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00749"/>
            <a:ext cx="753545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27212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0693" y="4913529"/>
            <a:ext cx="9440034" cy="68069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29CC1453-4E18-4960-B6D5-529F625B9A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0693" y="5713343"/>
            <a:ext cx="9440034" cy="436942"/>
          </a:xfrm>
        </p:spPr>
        <p:txBody>
          <a:bodyPr/>
          <a:lstStyle>
            <a:lvl1pPr marL="36900" indent="0" algn="ctr">
              <a:buNone/>
              <a:defRPr/>
            </a:lvl1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ADDA07CD-6F66-4875-B1ED-5D11B9642B3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2938" y="642938"/>
            <a:ext cx="5130800" cy="330358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15">
            <a:extLst>
              <a:ext uri="{FF2B5EF4-FFF2-40B4-BE49-F238E27FC236}">
                <a16:creationId xmlns:a16="http://schemas.microsoft.com/office/drawing/2014/main" id="{E1CB1643-335F-4FF9-8A42-C5652761302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417733" y="642937"/>
            <a:ext cx="5130800" cy="330358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4843549-5E1B-48B7-A510-6245884107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0"/>
            <a:ext cx="12192001" cy="4322278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3B5FF67-7EEC-4AB0-8445-132F999228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6096000" y="1609536"/>
            <a:ext cx="0" cy="1371600"/>
          </a:xfrm>
          <a:prstGeom prst="line">
            <a:avLst/>
          </a:prstGeom>
          <a:ln w="19050">
            <a:solidFill>
              <a:schemeClr val="tx1">
                <a:lumMod val="75000"/>
              </a:schemeClr>
            </a:solidFill>
          </a:ln>
          <a:effectLst>
            <a:innerShdw blurRad="114300">
              <a:prstClr val="black"/>
            </a:inn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61956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958888C-33C4-45BB-9053-0F238EBC250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 useBgFill="1"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6676" y="1572884"/>
            <a:ext cx="4100417" cy="2585050"/>
          </a:xfrm>
        </p:spPr>
        <p:txBody>
          <a:bodyPr lIns="274320" anchor="ctr">
            <a:normAutofit/>
          </a:bodyPr>
          <a:lstStyle>
            <a:lvl1pPr algn="l">
              <a:defRPr lang="en-US" sz="4000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 useBgFill="1"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6675" y="4157934"/>
            <a:ext cx="4100418" cy="1446364"/>
          </a:xfrm>
        </p:spPr>
        <p:txBody>
          <a:bodyPr lIns="274320" anchor="t">
            <a:normAutofit/>
          </a:bodyPr>
          <a:lstStyle>
            <a:lvl1pPr marL="342900" indent="-306000" algn="l" defTabSz="457200" rtl="0" eaLnBrk="1" latinLnBrk="0" hangingPunct="1">
              <a:lnSpc>
                <a:spcPct val="8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lang="en-US" sz="1600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88745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6754A53-50F5-4BFC-9D4B-69FF19B576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501468" y="1"/>
            <a:ext cx="469053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EE3AA4C-F452-4742-B62F-D92ACEB05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948" y="1233378"/>
            <a:ext cx="5441285" cy="2911902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C4A6F582-B177-429F-8965-8FC2335DBC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8948" y="4495800"/>
            <a:ext cx="5441286" cy="777874"/>
          </a:xfrm>
        </p:spPr>
        <p:txBody>
          <a:bodyPr/>
          <a:lstStyle>
            <a:lvl1pPr marL="36900" indent="0" algn="ctr">
              <a:buNone/>
              <a:defRPr/>
            </a:lvl1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708956-7306-4C30-B1DF-68E2666A2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96" y="6000749"/>
            <a:ext cx="5686438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F5FA9922-F4B7-458A-B446-58C5673A30D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848600" y="642938"/>
            <a:ext cx="3700463" cy="262572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6">
            <a:extLst>
              <a:ext uri="{FF2B5EF4-FFF2-40B4-BE49-F238E27FC236}">
                <a16:creationId xmlns:a16="http://schemas.microsoft.com/office/drawing/2014/main" id="{A931B751-CD27-4E96-B65A-1D983D26503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848600" y="3600901"/>
            <a:ext cx="3700463" cy="262572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579953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2 column (comparison slid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37B721FF-D609-4D98-9D19-CF75AA8A54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073936BD-C868-433F-8E84-D6DD8E640E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928224A9-CB7A-4D21-8CA0-38125E298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5192405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37B721FF-D609-4D98-9D19-CF75AA8A54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040" y="1734506"/>
            <a:ext cx="3359592" cy="409995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073936BD-C868-433F-8E84-D6DD8E640E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6204" y="1734506"/>
            <a:ext cx="3359592" cy="4099959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1623" y="1855153"/>
            <a:ext cx="3182944" cy="6924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1623" y="2702103"/>
            <a:ext cx="3182944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9579" y="1855152"/>
            <a:ext cx="3192843" cy="6924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9579" y="2702103"/>
            <a:ext cx="3192842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CB356B5-0EDC-4245-8878-C19DA25A30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1904" y="1734506"/>
            <a:ext cx="3359592" cy="4099959"/>
          </a:xfrm>
          <a:prstGeom prst="rect">
            <a:avLst/>
          </a:prstGeom>
        </p:spPr>
      </p:pic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556C3DD2-AE94-4BA5-920E-A7EEE19296E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035279" y="1855152"/>
            <a:ext cx="3192843" cy="6924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04BCB055-753B-4006-BF3C-73FC5A3C25D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035279" y="2702103"/>
            <a:ext cx="3192842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CE1D954F-2A50-4751-9E47-BB4B7BD61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6174226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2FDB9BCB-0C27-46E1-90C0-AADF005418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0649" y="1"/>
            <a:ext cx="4690532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69441" y="1233378"/>
            <a:ext cx="5898114" cy="1357422"/>
          </a:xfrm>
        </p:spPr>
        <p:txBody>
          <a:bodyPr anchor="b">
            <a:noAutofit/>
          </a:bodyPr>
          <a:lstStyle>
            <a:lvl1pPr algn="ctr">
              <a:defRPr lang="en-US" sz="4000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Subtitle 2" descr="Tag=AccentColor&#10;Flavor=Light&#10;Target=Text">
            <a:extLst>
              <a:ext uri="{FF2B5EF4-FFF2-40B4-BE49-F238E27FC236}">
                <a16:creationId xmlns:a16="http://schemas.microsoft.com/office/drawing/2014/main" id="{61821B46-FA47-4BEB-A735-3A8E1161FD7A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5369440" y="2895601"/>
            <a:ext cx="5898115" cy="2378074"/>
          </a:xfrm>
        </p:spPr>
        <p:txBody>
          <a:bodyPr>
            <a:normAutofit/>
          </a:bodyPr>
          <a:lstStyle>
            <a:lvl1pPr marL="36900" indent="0">
              <a:buNone/>
              <a:defRPr/>
            </a:lvl1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F220894-C699-4E12-9EB4-2318F23E4AA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11113" y="0"/>
            <a:ext cx="4583113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3811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291215" cy="10492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29121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42079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62677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3622291"/>
            <a:ext cx="12192000" cy="250598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>
                  <a:alpha val="80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>
          <a:xfrm>
            <a:off x="0" y="6129338"/>
            <a:ext cx="12192000" cy="742950"/>
          </a:xfrm>
          <a:prstGeom prst="rect">
            <a:avLst/>
          </a:prstGeom>
        </p:spPr>
      </p:pic>
      <p:cxnSp>
        <p:nvCxnSpPr>
          <p:cNvPr id="12" name="Straight Connector 11"/>
          <p:cNvCxnSpPr/>
          <p:nvPr/>
        </p:nvCxnSpPr>
        <p:spPr>
          <a:xfrm>
            <a:off x="0" y="6138142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694489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71" r:id="rId1"/>
    <p:sldLayoutId id="2147483872" r:id="rId2"/>
    <p:sldLayoutId id="2147483873" r:id="rId3"/>
    <p:sldLayoutId id="2147483874" r:id="rId4"/>
    <p:sldLayoutId id="2147483875" r:id="rId5"/>
    <p:sldLayoutId id="2147483876" r:id="rId6"/>
    <p:sldLayoutId id="2147483877" r:id="rId7"/>
    <p:sldLayoutId id="2147483878" r:id="rId8"/>
    <p:sldLayoutId id="2147483879" r:id="rId9"/>
    <p:sldLayoutId id="2147483880" r:id="rId10"/>
    <p:sldLayoutId id="2147483881" r:id="rId11"/>
    <p:sldLayoutId id="2147483882" r:id="rId12"/>
    <p:sldLayoutId id="2147483883" r:id="rId13"/>
    <p:sldLayoutId id="2147483884" r:id="rId14"/>
    <p:sldLayoutId id="2147483885" r:id="rId15"/>
    <p:sldLayoutId id="2147483886" r:id="rId16"/>
    <p:sldLayoutId id="2147483887" r:id="rId17"/>
    <p:sldLayoutId id="2147483889" r:id="rId18"/>
    <p:sldLayoutId id="2147483890" r:id="rId19"/>
    <p:sldLayoutId id="2147483891" r:id="rId20"/>
  </p:sldLayoutIdLst>
  <p:hf hdr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4" Type="http://schemas.openxmlformats.org/officeDocument/2006/relationships/chart" Target="../charts/char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Placeholder 21" descr="A picture containing wall, wooden, indoor, table">
            <a:extLst>
              <a:ext uri="{FF2B5EF4-FFF2-40B4-BE49-F238E27FC236}">
                <a16:creationId xmlns:a16="http://schemas.microsoft.com/office/drawing/2014/main" id="{E2888B94-BE50-4E48-8F75-1E8AAD5AFA9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" r="25"/>
          <a:stretch/>
        </p:blipFill>
        <p:spPr/>
      </p:pic>
      <p:sp useBgFill="1">
        <p:nvSpPr>
          <p:cNvPr id="18" name="Title 17">
            <a:extLst>
              <a:ext uri="{FF2B5EF4-FFF2-40B4-BE49-F238E27FC236}">
                <a16:creationId xmlns:a16="http://schemas.microsoft.com/office/drawing/2014/main" id="{7F1C1DC8-8566-416D-A699-06A29F45B57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Bright Coffee Data Analysis</a:t>
            </a:r>
          </a:p>
        </p:txBody>
      </p:sp>
      <p:sp useBgFill="1">
        <p:nvSpPr>
          <p:cNvPr id="19" name="Subtitle 18">
            <a:extLst>
              <a:ext uri="{FF2B5EF4-FFF2-40B4-BE49-F238E27FC236}">
                <a16:creationId xmlns:a16="http://schemas.microsoft.com/office/drawing/2014/main" id="{B032DA7C-C3AD-4A99-8801-152FB4EE9B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63430" y="3734696"/>
            <a:ext cx="7665139" cy="1191977"/>
          </a:xfrm>
        </p:spPr>
        <p:txBody>
          <a:bodyPr/>
          <a:lstStyle/>
          <a:p>
            <a:r>
              <a:rPr lang="en-US" dirty="0" err="1"/>
              <a:t>By:</a:t>
            </a:r>
            <a:r>
              <a:rPr lang="en-US" b="1" dirty="0" err="1"/>
              <a:t>Malotse</a:t>
            </a:r>
            <a:r>
              <a:rPr lang="en-US" b="1" dirty="0"/>
              <a:t> Emanuel Mathipa</a:t>
            </a:r>
          </a:p>
        </p:txBody>
      </p:sp>
    </p:spTree>
    <p:extLst>
      <p:ext uri="{BB962C8B-B14F-4D97-AF65-F5344CB8AC3E}">
        <p14:creationId xmlns:p14="http://schemas.microsoft.com/office/powerpoint/2010/main" val="31964027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96E3B60D-8F61-4010-B5A2-75CCE0009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In this Bar Chart </a:t>
            </a:r>
            <a:r>
              <a:rPr lang="en-US" dirty="0" err="1"/>
              <a:t>above,we</a:t>
            </a:r>
            <a:r>
              <a:rPr lang="en-US" dirty="0"/>
              <a:t> see the sales comparison during weekdays and over the </a:t>
            </a:r>
            <a:r>
              <a:rPr lang="en-US" dirty="0" err="1"/>
              <a:t>weekends.This</a:t>
            </a:r>
            <a:r>
              <a:rPr lang="en-US" dirty="0"/>
              <a:t> is a clear indication that these shops go much quieter over the weekend with not so many customers to buy.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9B1013C3-6F9A-4629-9F2B-49280748A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B346791-1682-49BA-8758-84E6A10FB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3A98EE3D-8CD1-4C3F-BD1C-C98C9596463C}" type="slidenum">
              <a:rPr lang="en-US" smtClean="0"/>
              <a:pPr/>
              <a:t>2</a:t>
            </a:fld>
            <a:endParaRPr lang="en-US" dirty="0"/>
          </a:p>
        </p:txBody>
      </p:sp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51DD5F98-CE78-91B0-15CE-99FAE4893B9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94968851"/>
              </p:ext>
            </p:extLst>
          </p:nvPr>
        </p:nvGraphicFramePr>
        <p:xfrm>
          <a:off x="0" y="-1"/>
          <a:ext cx="12192000" cy="60007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5588998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19D54D5B-AC4B-4406-96BC-DBEEF7645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51579" y="151201"/>
            <a:ext cx="5626774" cy="638508"/>
          </a:xfrm>
        </p:spPr>
        <p:txBody>
          <a:bodyPr/>
          <a:lstStyle/>
          <a:p>
            <a:r>
              <a:rPr lang="en-US" sz="1600" dirty="0"/>
              <a:t>This chart indicate to us the quantity of product sold based on the location of the stores</a:t>
            </a:r>
          </a:p>
        </p:txBody>
      </p:sp>
      <p:sp>
        <p:nvSpPr>
          <p:cNvPr id="17" name="Date Placeholder 3">
            <a:extLst>
              <a:ext uri="{FF2B5EF4-FFF2-40B4-BE49-F238E27FC236}">
                <a16:creationId xmlns:a16="http://schemas.microsoft.com/office/drawing/2014/main" id="{8A8C9A28-A876-4575-8501-8E5F69D8D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1ED457A1-2E40-4C44-A232-BAF8CDEB0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3</a:t>
            </a:fld>
            <a:endParaRPr lang="en-US"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99201D64-D627-1FE6-2705-2C2E6B1C2BB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12040920"/>
              </p:ext>
            </p:extLst>
          </p:nvPr>
        </p:nvGraphicFramePr>
        <p:xfrm>
          <a:off x="0" y="1143000"/>
          <a:ext cx="12191999" cy="50084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835970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/>
              <a:t>The above Pie chat  </a:t>
            </a:r>
            <a:r>
              <a:rPr lang="en-US" dirty="0" err="1"/>
              <a:t>illustrade</a:t>
            </a:r>
            <a:r>
              <a:rPr lang="en-US" dirty="0"/>
              <a:t> the daily sales revenue in percentages per </a:t>
            </a:r>
            <a:r>
              <a:rPr lang="en-US" dirty="0" err="1"/>
              <a:t>store,and</a:t>
            </a:r>
            <a:r>
              <a:rPr lang="en-US" dirty="0"/>
              <a:t> in bar chat we see the total amount of revenue each store was able to generate from January month till June.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DBA992C4-E494-B3CA-9C6C-F2CF1A50519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49762653"/>
              </p:ext>
            </p:extLst>
          </p:nvPr>
        </p:nvGraphicFramePr>
        <p:xfrm>
          <a:off x="0" y="1"/>
          <a:ext cx="6417733" cy="57133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E22EBFDD-0292-BF9C-95C0-11899C4078F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51557488"/>
              </p:ext>
            </p:extLst>
          </p:nvPr>
        </p:nvGraphicFramePr>
        <p:xfrm>
          <a:off x="6417733" y="-1"/>
          <a:ext cx="5763687" cy="57133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3120413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6F2FBAFE-D63F-4CBE-8235-62723C211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FB4AA850-A6AA-4243-8196-0BBB80D7E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The below Bar Chat indicates to us which product was able to generate most revenue in the last six months in all three stores individually.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44F56172-F0A1-4C57-A121-33FE46441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4</a:t>
            </a:r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DECEC4EA-F4D9-9CB5-B891-819CF03ABB3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42672680"/>
              </p:ext>
            </p:extLst>
          </p:nvPr>
        </p:nvGraphicFramePr>
        <p:xfrm>
          <a:off x="0" y="721895"/>
          <a:ext cx="12192000" cy="527885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5273869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B7CBA688-6475-4692-9D7D-72DA02473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36BE19B-5B70-4F2F-969A-1263C60C44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67098CCA-61C7-4825-B23A-6A8E42906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6</a:t>
            </a:fld>
            <a:endParaRPr lang="en-US" dirty="0"/>
          </a:p>
        </p:txBody>
      </p:sp>
      <p:graphicFrame>
        <p:nvGraphicFramePr>
          <p:cNvPr id="19" name="Chart 18">
            <a:extLst>
              <a:ext uri="{FF2B5EF4-FFF2-40B4-BE49-F238E27FC236}">
                <a16:creationId xmlns:a16="http://schemas.microsoft.com/office/drawing/2014/main" id="{79F11A18-B018-07CB-DE7F-BD9343D945E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82942566"/>
              </p:ext>
            </p:extLst>
          </p:nvPr>
        </p:nvGraphicFramePr>
        <p:xfrm>
          <a:off x="0" y="0"/>
          <a:ext cx="12192000" cy="685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2129174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8CB210-217C-AF45-708F-250AB9608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Subtitle 2" descr="Tag=AccentColor&#10;Flavor=Light&#10;Target=Text">
            <a:extLst>
              <a:ext uri="{FF2B5EF4-FFF2-40B4-BE49-F238E27FC236}">
                <a16:creationId xmlns:a16="http://schemas.microsoft.com/office/drawing/2014/main" id="{21F4C131-94E7-E2F1-CCA1-9AE5389E2B1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marL="3690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5E765234-DAEF-6AF8-1644-1C3FE7B44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In the above Bar Chart we are able to observe the sales performance of each of the three stores for the past six months.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CE3BE0F0-DD58-CCB8-AFA7-EF46F4FC7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EE23971C-15B8-3255-340D-C7E7109A1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7</a:t>
            </a:fld>
            <a:endParaRPr lang="en-US" dirty="0"/>
          </a:p>
        </p:txBody>
      </p:sp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16CEFDEA-47EF-8FDA-FB12-07F39A0EF64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69445870"/>
              </p:ext>
            </p:extLst>
          </p:nvPr>
        </p:nvGraphicFramePr>
        <p:xfrm>
          <a:off x="104273" y="14675"/>
          <a:ext cx="11983453" cy="60879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2142376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Footer Placeholder 4">
            <a:extLst>
              <a:ext uri="{FF2B5EF4-FFF2-40B4-BE49-F238E27FC236}">
                <a16:creationId xmlns:a16="http://schemas.microsoft.com/office/drawing/2014/main" id="{751ACC54-1C9F-4F17-86C0-8E34CAB59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95" y="6000749"/>
            <a:ext cx="8651309" cy="532398"/>
          </a:xfrm>
        </p:spPr>
        <p:txBody>
          <a:bodyPr/>
          <a:lstStyle/>
          <a:p>
            <a:r>
              <a:rPr lang="en-US" dirty="0"/>
              <a:t>The above Line Chart is an indication to us when is peak time and when sales figures deepen during the </a:t>
            </a:r>
            <a:r>
              <a:rPr lang="en-US" dirty="0" err="1"/>
              <a:t>month.In</a:t>
            </a:r>
            <a:r>
              <a:rPr lang="en-US" dirty="0"/>
              <a:t> the above picture it is quiet clear that during month end sales figures slows down and picks up </a:t>
            </a:r>
            <a:r>
              <a:rPr lang="en-US" dirty="0" err="1"/>
              <a:t>agin</a:t>
            </a:r>
            <a:r>
              <a:rPr lang="en-US" dirty="0"/>
              <a:t> from around the 7</a:t>
            </a:r>
            <a:r>
              <a:rPr lang="en-US" baseline="30000" dirty="0"/>
              <a:t>th</a:t>
            </a:r>
            <a:r>
              <a:rPr lang="en-US" dirty="0"/>
              <a:t> and the 8</a:t>
            </a:r>
            <a:r>
              <a:rPr lang="en-US" baseline="30000" dirty="0"/>
              <a:t>th</a:t>
            </a:r>
            <a:r>
              <a:rPr lang="en-US" dirty="0"/>
              <a:t> till around the 27</a:t>
            </a:r>
            <a:r>
              <a:rPr lang="en-US" baseline="30000" dirty="0"/>
              <a:t>th</a:t>
            </a:r>
            <a:r>
              <a:rPr lang="en-US" dirty="0"/>
              <a:t> when it deeps </a:t>
            </a:r>
            <a:r>
              <a:rPr lang="en-US" dirty="0" err="1"/>
              <a:t>again,so</a:t>
            </a:r>
            <a:r>
              <a:rPr lang="en-US" dirty="0"/>
              <a:t> is a continuous </a:t>
            </a:r>
            <a:r>
              <a:rPr lang="en-US" dirty="0" err="1"/>
              <a:t>parten</a:t>
            </a:r>
            <a:r>
              <a:rPr lang="en-US" dirty="0"/>
              <a:t>.</a:t>
            </a:r>
          </a:p>
        </p:txBody>
      </p:sp>
      <p:sp>
        <p:nvSpPr>
          <p:cNvPr id="44" name="Date Placeholder 3">
            <a:extLst>
              <a:ext uri="{FF2B5EF4-FFF2-40B4-BE49-F238E27FC236}">
                <a16:creationId xmlns:a16="http://schemas.microsoft.com/office/drawing/2014/main" id="{39391844-D7E3-44D6-B87F-E83C2C418BBB}"/>
              </a:ext>
            </a:extLst>
          </p:cNvPr>
          <p:cNvSpPr txBox="1">
            <a:spLocks/>
          </p:cNvSpPr>
          <p:nvPr/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000" dirty="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rPr>
              <a:t>20XX</a:t>
            </a:r>
          </a:p>
        </p:txBody>
      </p:sp>
      <p:sp>
        <p:nvSpPr>
          <p:cNvPr id="46" name="Slide Number Placeholder 5">
            <a:extLst>
              <a:ext uri="{FF2B5EF4-FFF2-40B4-BE49-F238E27FC236}">
                <a16:creationId xmlns:a16="http://schemas.microsoft.com/office/drawing/2014/main" id="{F40844C9-67FE-4E2E-AA09-6FF959A68FF0}"/>
              </a:ext>
            </a:extLst>
          </p:cNvPr>
          <p:cNvSpPr txBox="1">
            <a:spLocks/>
          </p:cNvSpPr>
          <p:nvPr/>
        </p:nvSpPr>
        <p:spPr>
          <a:xfrm>
            <a:off x="10514011" y="6000749"/>
            <a:ext cx="753545" cy="36512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marL="3429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 algn="r">
              <a:buNone/>
            </a:pPr>
            <a:fld id="{3A98EE3D-8CD1-4C3F-BD1C-C98C9596463C}" type="slidenum">
              <a:rPr lang="en-US"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rPr>
              <a:pPr marL="36900" indent="0" algn="r">
                <a:buNone/>
              </a:pPr>
              <a:t>8</a:t>
            </a:fld>
            <a:endParaRPr lang="en-US" sz="1000" dirty="0">
              <a:solidFill>
                <a:schemeClr val="tx1">
                  <a:lumMod val="95000"/>
                </a:schemeClr>
              </a:solidFill>
              <a:effectLst>
                <a:outerShdw blurRad="50800" dist="38100" dir="2700000" algn="tl" rotWithShape="0">
                  <a:schemeClr val="bg1">
                    <a:alpha val="43000"/>
                  </a:schemeClr>
                </a:outerShdw>
              </a:effectLst>
            </a:endParaRP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712ACA9B-3EC6-BAB4-9797-C75C071538A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80175565"/>
              </p:ext>
            </p:extLst>
          </p:nvPr>
        </p:nvGraphicFramePr>
        <p:xfrm>
          <a:off x="0" y="-96253"/>
          <a:ext cx="12192000" cy="60007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7165008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08732720-5BAC-4DEB-B92E-6211D2C1EF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ECFACB46-32BB-482A-BE6E-237AC1430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reflction</a:t>
            </a:r>
            <a:r>
              <a:rPr lang="en-US" dirty="0"/>
              <a:t> above in Pie Chart is a reflection of the most popular product that was selling better than the others by store in the period of six months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20E07404-5FB1-43FA-83C1-904C50456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9</a:t>
            </a:fld>
            <a:endParaRPr lang="en-US"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FFCA3A3C-8208-7C5E-158C-5DA0CB075F4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99442658"/>
              </p:ext>
            </p:extLst>
          </p:nvPr>
        </p:nvGraphicFramePr>
        <p:xfrm>
          <a:off x="0" y="-1"/>
          <a:ext cx="12192000" cy="58189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1241845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C6FD6B2E-F7BE-49BA-9913-D829B3AA1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Above in line chart is a reflection of the amount of sales the stores were able to generate depending on day and time.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8E10CF0C-2500-4311-BA81-B6A3B0EDD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36CB0C3-DA3A-4D5B-BBF9-EC64C8919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10</a:t>
            </a:fld>
            <a:endParaRPr lang="en-US" dirty="0"/>
          </a:p>
        </p:txBody>
      </p:sp>
      <p:graphicFrame>
        <p:nvGraphicFramePr>
          <p:cNvPr id="20" name="Chart 19">
            <a:extLst>
              <a:ext uri="{FF2B5EF4-FFF2-40B4-BE49-F238E27FC236}">
                <a16:creationId xmlns:a16="http://schemas.microsoft.com/office/drawing/2014/main" id="{D85D1018-218F-74F9-2142-789489A8C10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49816994"/>
              </p:ext>
            </p:extLst>
          </p:nvPr>
        </p:nvGraphicFramePr>
        <p:xfrm>
          <a:off x="0" y="0"/>
          <a:ext cx="12192000" cy="60007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5631196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CEF89548-244C-4B47-B625-A122DBC84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 dirty="0"/>
              <a:t>This Chart demonstrate to us the amount of transactions happening in each store per day in each location</a:t>
            </a: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A8E1866D-93A0-4B0E-A5DF-69F0A4225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F8E7647A-600D-45B1-BA49-CBE24E70D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11</a:t>
            </a:fld>
            <a:endParaRPr lang="en-US" dirty="0"/>
          </a:p>
        </p:txBody>
      </p:sp>
      <p:graphicFrame>
        <p:nvGraphicFramePr>
          <p:cNvPr id="26" name="Chart 25">
            <a:extLst>
              <a:ext uri="{FF2B5EF4-FFF2-40B4-BE49-F238E27FC236}">
                <a16:creationId xmlns:a16="http://schemas.microsoft.com/office/drawing/2014/main" id="{F155547B-0493-7308-E255-91ACCACE6B2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57450450"/>
              </p:ext>
            </p:extLst>
          </p:nvPr>
        </p:nvGraphicFramePr>
        <p:xfrm>
          <a:off x="0" y="1302551"/>
          <a:ext cx="12192000" cy="47564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7215085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C49536-DF0B-454A-9018-D4982C1EB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The above Bar Charts reflect to us the sales revenue each SKU was able to generate in the past six months.</a:t>
            </a:r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13C31A86-88E1-4320-8DD9-95A3218AD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0F1BC668-CEDC-414E-9BE5-D2234A944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12</a:t>
            </a:fld>
            <a:endParaRPr lang="en-US" dirty="0"/>
          </a:p>
        </p:txBody>
      </p:sp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id="{EB0867BA-7528-E2F2-8C4D-FE7B452C477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16051845"/>
              </p:ext>
            </p:extLst>
          </p:nvPr>
        </p:nvGraphicFramePr>
        <p:xfrm>
          <a:off x="0" y="0"/>
          <a:ext cx="12192000" cy="58189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8316126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75F46FF8-A550-E2AD-4511-D61ADDB17D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3335" y="385780"/>
            <a:ext cx="5697102" cy="1405366"/>
          </a:xfrm>
        </p:spPr>
        <p:txBody>
          <a:bodyPr>
            <a:normAutofit/>
          </a:bodyPr>
          <a:lstStyle/>
          <a:p>
            <a:r>
              <a:rPr lang="en-US" dirty="0"/>
              <a:t>Observation and conclusion</a:t>
            </a:r>
          </a:p>
        </p:txBody>
      </p:sp>
      <p:sp>
        <p:nvSpPr>
          <p:cNvPr id="14" name="Subtitle 2" descr="Tag=AccentColor&#10;Flavor=Light&#10;Target=Text">
            <a:extLst>
              <a:ext uri="{FF2B5EF4-FFF2-40B4-BE49-F238E27FC236}">
                <a16:creationId xmlns:a16="http://schemas.microsoft.com/office/drawing/2014/main" id="{0A4F0569-97D0-811E-1CE6-9BBA74526E10}"/>
              </a:ext>
            </a:extLst>
          </p:cNvPr>
          <p:cNvSpPr txBox="1">
            <a:spLocks/>
          </p:cNvSpPr>
          <p:nvPr/>
        </p:nvSpPr>
        <p:spPr>
          <a:xfrm>
            <a:off x="373468" y="2538663"/>
            <a:ext cx="11145128" cy="304322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274320" tIns="45720" rIns="91440" bIns="45720" rtlCol="0" anchor="t">
            <a:normAutofit/>
          </a:bodyPr>
          <a:lstStyle>
            <a:lvl1pPr marL="342900" indent="-306000" algn="l" defTabSz="457200" rtl="0" eaLnBrk="1" latinLnBrk="0" hangingPunct="1">
              <a:lnSpc>
                <a:spcPct val="8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lang="en-US" sz="1600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By the look of </a:t>
            </a:r>
            <a:r>
              <a:rPr lang="en-US" dirty="0" err="1"/>
              <a:t>things,there</a:t>
            </a:r>
            <a:r>
              <a:rPr lang="en-US" dirty="0"/>
              <a:t> has been a little negligence as earlier indications were there showing declining sales trends as competition was becoming </a:t>
            </a:r>
            <a:r>
              <a:rPr lang="en-US" dirty="0" err="1"/>
              <a:t>rife,and</a:t>
            </a:r>
            <a:r>
              <a:rPr lang="en-US" dirty="0"/>
              <a:t> nothing was done to combat the situation and turn thing around.</a:t>
            </a:r>
          </a:p>
          <a:p>
            <a:r>
              <a:rPr lang="en-US" dirty="0"/>
              <a:t>Only one store was </a:t>
            </a:r>
            <a:r>
              <a:rPr lang="en-US" dirty="0" err="1"/>
              <a:t>perfoming</a:t>
            </a:r>
            <a:r>
              <a:rPr lang="en-US" dirty="0"/>
              <a:t> very well out of the </a:t>
            </a:r>
            <a:r>
              <a:rPr lang="en-US" dirty="0" err="1"/>
              <a:t>three,but</a:t>
            </a:r>
            <a:r>
              <a:rPr lang="en-US" dirty="0"/>
              <a:t> only at a certain times of day during the month.</a:t>
            </a:r>
          </a:p>
          <a:p>
            <a:r>
              <a:rPr lang="en-US" dirty="0"/>
              <a:t>There need to be regular promotions such as rewards to promote the </a:t>
            </a:r>
            <a:r>
              <a:rPr lang="en-US" dirty="0" err="1"/>
              <a:t>products,run</a:t>
            </a:r>
            <a:r>
              <a:rPr lang="en-US" dirty="0"/>
              <a:t> a buy one get one free for your partner for a certain while in the </a:t>
            </a:r>
            <a:r>
              <a:rPr lang="en-US" dirty="0" err="1"/>
              <a:t>month,to</a:t>
            </a:r>
            <a:r>
              <a:rPr lang="en-US" dirty="0"/>
              <a:t> try and draw the customers back to the stores.</a:t>
            </a:r>
          </a:p>
          <a:p>
            <a:r>
              <a:rPr lang="en-US" dirty="0"/>
              <a:t>Get promoters to give out tasters at traffic lights and </a:t>
            </a:r>
            <a:r>
              <a:rPr lang="en-US" dirty="0" err="1"/>
              <a:t>intersections,as</a:t>
            </a:r>
            <a:r>
              <a:rPr lang="en-US" dirty="0"/>
              <a:t> well as hand out flayers and pamphlets to customers to grab more attention from customers.</a:t>
            </a:r>
          </a:p>
          <a:p>
            <a:r>
              <a:rPr lang="en-US" dirty="0"/>
              <a:t>Erect Point of sale at each and every space that may freely be available to utilize. Be as aggressive as much as possible when advertising</a:t>
            </a:r>
          </a:p>
          <a:p>
            <a:r>
              <a:rPr lang="en-US" dirty="0"/>
              <a:t>If monetary </a:t>
            </a:r>
            <a:r>
              <a:rPr lang="en-US" dirty="0" err="1"/>
              <a:t>recources</a:t>
            </a:r>
            <a:r>
              <a:rPr lang="en-US" dirty="0"/>
              <a:t> are </a:t>
            </a:r>
            <a:r>
              <a:rPr lang="en-US" dirty="0" err="1"/>
              <a:t>available,get</a:t>
            </a:r>
            <a:r>
              <a:rPr lang="en-US" dirty="0"/>
              <a:t> one or two billboards up in the highway to create awareness amongst customers for any promotions that may be running at a given time.</a:t>
            </a:r>
          </a:p>
        </p:txBody>
      </p:sp>
    </p:spTree>
    <p:extLst>
      <p:ext uri="{BB962C8B-B14F-4D97-AF65-F5344CB8AC3E}">
        <p14:creationId xmlns:p14="http://schemas.microsoft.com/office/powerpoint/2010/main" val="4268509636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9D5"/>
      </a:lt2>
      <a:accent1>
        <a:srgbClr val="FB8C29"/>
      </a:accent1>
      <a:accent2>
        <a:srgbClr val="F2C351"/>
      </a:accent2>
      <a:accent3>
        <a:srgbClr val="D0CBA5"/>
      </a:accent3>
      <a:accent4>
        <a:srgbClr val="A2C476"/>
      </a:accent4>
      <a:accent5>
        <a:srgbClr val="57C293"/>
      </a:accent5>
      <a:accent6>
        <a:srgbClr val="06BFDE"/>
      </a:accent6>
      <a:hlink>
        <a:srgbClr val="FBAE29"/>
      </a:hlink>
      <a:folHlink>
        <a:srgbClr val="EDC47E"/>
      </a:folHlink>
    </a:clrScheme>
    <a:fontScheme name="Gallery">
      <a:majorFont>
        <a:latin typeface="Rockwell" panose="020606030202050204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BB5F5D82-B5E9-469E-A815-C655ED4AF24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0" ma:contentTypeDescription="Create a new document." ma:contentTypeScope="" ma:versionID="1267097ee5f5874adfcc408041ae252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95891a93df65b14727750f2c06c306c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F06F3F2-9398-47DD-B339-5E062F7F29B5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80EF115D-73C4-4C20-A44F-97481CD74CD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1D2C913-C7E9-427D-8C7B-4D2DB36F60B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309</TotalTime>
  <Words>607</Words>
  <Application>Microsoft Office PowerPoint</Application>
  <PresentationFormat>Widescreen</PresentationFormat>
  <Paragraphs>68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Rockwell</vt:lpstr>
      <vt:lpstr>Wingdings 2</vt:lpstr>
      <vt:lpstr>Gallery</vt:lpstr>
      <vt:lpstr>Bright Coffee Data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Observation and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Emanual Mathipa</dc:creator>
  <cp:lastModifiedBy>Emanual Mathipa</cp:lastModifiedBy>
  <cp:revision>4</cp:revision>
  <dcterms:created xsi:type="dcterms:W3CDTF">2026-04-16T18:10:52Z</dcterms:created>
  <dcterms:modified xsi:type="dcterms:W3CDTF">2026-04-17T18:29:16Z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